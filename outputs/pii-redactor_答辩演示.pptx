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72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4A6C187-C839-4913-847F-032CA7CB4C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AA59F7-0B06-4A2A-81CB-5D1C4C7756A2}"/>
              </a:ext>
            </a:extLst>
          </p:cNvPr>
          <p:cNvSpPr>
            <a:spLocks noGrp="1"/>
          </p:cNvSpPr>
          <p:nvPr/>
        </p:nvSpPr>
        <p:spPr>
          <a:xfrm>
            <a:off x="7334250" y="0"/>
            <a:ext cx="4857750" cy="6858000"/>
          </a:xfrm>
          <a:prstGeom prst="rect">
            <a:avLst/>
          </a:prstGeom>
          <a:solidFill>
            <a:srgbClr val="1B1D1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4B336B-81FF-4D75-B892-E0D380EDAD5B}"/>
              </a:ext>
            </a:extLst>
          </p:cNvPr>
          <p:cNvSpPr>
            <a:spLocks noGrp="1"/>
          </p:cNvSpPr>
          <p:nvPr/>
        </p:nvSpPr>
        <p:spPr>
          <a:xfrm>
            <a:off x="6168982" y="1316057"/>
            <a:ext cx="114300" cy="304800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3E08EF-DF89-4270-A2D1-F105E0264BDB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DOCUMENT PRIVACY / 2026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7F994D-D62F-4113-87AB-E0719F9ACD0B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5905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敏感信息</a:t>
            </a:r>
            <a:endParaRPr sz="43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智能检测与脱敏系统</a:t>
            </a:r>
            <a:endParaRPr sz="43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957007-CA2F-4088-8696-AACF177B388F}"/>
              </a:ext>
            </a:extLst>
          </p:cNvPr>
          <p:cNvSpPr>
            <a:spLocks noGrp="1"/>
          </p:cNvSpPr>
          <p:nvPr/>
        </p:nvSpPr>
        <p:spPr>
          <a:xfrm>
            <a:off x="647700" y="3076575"/>
            <a:ext cx="542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基于 OCR、NER 与图像打码的隐私保护工具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5F93A0-E2BB-41B9-B427-755351BDAF40}"/>
              </a:ext>
            </a:extLst>
          </p:cNvPr>
          <p:cNvSpPr>
            <a:spLocks noGrp="1"/>
          </p:cNvSpPr>
          <p:nvPr/>
        </p:nvSpPr>
        <p:spPr>
          <a:xfrm>
            <a:off x="647700" y="4171950"/>
            <a:ext cx="47625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姓名</a:t>
            </a:r>
            <a:r>
              <a:rPr sz="1500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：__________</a:t>
            </a:r>
          </a:p>
          <a:p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项目时间：2026 年 7 月</a:t>
            </a:r>
          </a:p>
          <a:p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</a:t>
            </a:r>
            <a:r>
              <a:rPr sz="1500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500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</a:t>
            </a:r>
            <a:r>
              <a:rPr sz="1500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：__________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D572E4-8C4A-40BB-B62C-C76A6329166D}"/>
              </a:ext>
            </a:extLst>
          </p:cNvPr>
          <p:cNvSpPr>
            <a:spLocks noGrp="1"/>
          </p:cNvSpPr>
          <p:nvPr/>
        </p:nvSpPr>
        <p:spPr>
          <a:xfrm>
            <a:off x="7334250" y="47244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12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LOCAL-FIRST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1842D0-ABEF-4347-80F5-B839F66C981F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 → ENTITY → REGION → REDACTION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16C07D-05D1-46A1-A755-055D351CF67A}"/>
              </a:ext>
            </a:extLst>
          </p:cNvPr>
          <p:cNvSpPr>
            <a:spLocks noGrp="1"/>
          </p:cNvSpPr>
          <p:nvPr/>
        </p:nvSpPr>
        <p:spPr>
          <a:xfrm>
            <a:off x="7334250" y="55054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可训练 · 可评测 · 可追溯 · 可人工复核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EB0F8B-4026-43D1-A61D-B0F37332CB7D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PII-REDACTOR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9CC32C-4038-4284-B8B3-CF716FB0DFC9}"/>
              </a:ext>
            </a:extLst>
          </p:cNvPr>
          <p:cNvSpPr>
            <a:spLocks noGrp="1"/>
          </p:cNvSpPr>
          <p:nvPr/>
        </p:nvSpPr>
        <p:spPr>
          <a:xfrm>
            <a:off x="6256989" y="4183755"/>
            <a:ext cx="5585135" cy="182185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05EDA6-88F0-4589-AA73-046E7603E70D}"/>
              </a:ext>
            </a:extLst>
          </p:cNvPr>
          <p:cNvSpPr>
            <a:spLocks noGrp="1"/>
          </p:cNvSpPr>
          <p:nvPr/>
        </p:nvSpPr>
        <p:spPr>
          <a:xfrm>
            <a:off x="647699" y="3778567"/>
            <a:ext cx="4503849" cy="45719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1FD877F-F18D-40FF-935F-E32492F5E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21" y="1316057"/>
            <a:ext cx="5591577" cy="296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B19FCEF6-BBAF-4C22-BB5B-793A097668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50DEAB-7D3A-4CDB-8FFC-BD4D06210105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AD686B-5A7B-4140-A9B4-A41E9C25B3AC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敏感信息散落在每一种非结构化文档中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6CCF45-C2AC-41A6-A650-4D62B4152A60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990983-0F7B-4A45-826A-3FEB942CD438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2400300" cy="666750"/>
          </a:xfrm>
          <a:prstGeom prst="rect">
            <a:avLst/>
          </a:prstGeom>
          <a:solidFill>
            <a:srgbClr val="F5C400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E065F8-D319-4CBD-BA6F-CA8F0A33DB42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43DBFA-ED2E-47E3-8C16-B6D2C8E514AD}"/>
              </a:ext>
            </a:extLst>
          </p:cNvPr>
          <p:cNvSpPr>
            <a:spLocks noGrp="1"/>
          </p:cNvSpPr>
          <p:nvPr/>
        </p:nvSpPr>
        <p:spPr>
          <a:xfrm>
            <a:off x="1085850" y="1438275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纸质表单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E37523-C0CD-4404-8B6D-87604752DFF7}"/>
              </a:ext>
            </a:extLst>
          </p:cNvPr>
          <p:cNvSpPr>
            <a:spLocks noGrp="1"/>
          </p:cNvSpPr>
          <p:nvPr/>
        </p:nvSpPr>
        <p:spPr>
          <a:xfrm>
            <a:off x="3314700" y="1352550"/>
            <a:ext cx="24003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8326B6-BA88-426D-9FD5-5697236B99C5}"/>
              </a:ext>
            </a:extLst>
          </p:cNvPr>
          <p:cNvSpPr>
            <a:spLocks noGrp="1"/>
          </p:cNvSpPr>
          <p:nvPr/>
        </p:nvSpPr>
        <p:spPr>
          <a:xfrm>
            <a:off x="3448050" y="14954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7F6D18-4E81-456C-949B-C64099D459F9}"/>
              </a:ext>
            </a:extLst>
          </p:cNvPr>
          <p:cNvSpPr>
            <a:spLocks noGrp="1"/>
          </p:cNvSpPr>
          <p:nvPr/>
        </p:nvSpPr>
        <p:spPr>
          <a:xfrm>
            <a:off x="3867150" y="1438275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聊天截图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E20F29-12BF-4DEA-8E48-8C1835312CAF}"/>
              </a:ext>
            </a:extLst>
          </p:cNvPr>
          <p:cNvSpPr>
            <a:spLocks noGrp="1"/>
          </p:cNvSpPr>
          <p:nvPr/>
        </p:nvSpPr>
        <p:spPr>
          <a:xfrm>
            <a:off x="6096000" y="1352550"/>
            <a:ext cx="24003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74503F-D21B-4B9B-9456-589A1C87BE40}"/>
              </a:ext>
            </a:extLst>
          </p:cNvPr>
          <p:cNvSpPr>
            <a:spLocks noGrp="1"/>
          </p:cNvSpPr>
          <p:nvPr/>
        </p:nvSpPr>
        <p:spPr>
          <a:xfrm>
            <a:off x="6229350" y="14954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93ADF5-0EF6-4298-9E46-4A0DA874DF86}"/>
              </a:ext>
            </a:extLst>
          </p:cNvPr>
          <p:cNvSpPr>
            <a:spLocks noGrp="1"/>
          </p:cNvSpPr>
          <p:nvPr/>
        </p:nvSpPr>
        <p:spPr>
          <a:xfrm>
            <a:off x="6648450" y="1438275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扫描件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EC9A30-700C-4DFA-A00D-AB412D9C77C3}"/>
              </a:ext>
            </a:extLst>
          </p:cNvPr>
          <p:cNvSpPr>
            <a:spLocks noGrp="1"/>
          </p:cNvSpPr>
          <p:nvPr/>
        </p:nvSpPr>
        <p:spPr>
          <a:xfrm>
            <a:off x="8877300" y="1352550"/>
            <a:ext cx="24003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E6725D-2FAC-4FC4-A574-50681D53967B}"/>
              </a:ext>
            </a:extLst>
          </p:cNvPr>
          <p:cNvSpPr>
            <a:spLocks noGrp="1"/>
          </p:cNvSpPr>
          <p:nvPr/>
        </p:nvSpPr>
        <p:spPr>
          <a:xfrm>
            <a:off x="9010650" y="14954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11EAD7-5039-49BB-B9F4-C4B5995B8058}"/>
              </a:ext>
            </a:extLst>
          </p:cNvPr>
          <p:cNvSpPr>
            <a:spLocks noGrp="1"/>
          </p:cNvSpPr>
          <p:nvPr/>
        </p:nvSpPr>
        <p:spPr>
          <a:xfrm>
            <a:off x="9429750" y="1438275"/>
            <a:ext cx="1666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业务登记表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59C663-5886-48E7-9AD1-D14C6196E039}"/>
              </a:ext>
            </a:extLst>
          </p:cNvPr>
          <p:cNvSpPr>
            <a:spLocks noGrp="1"/>
          </p:cNvSpPr>
          <p:nvPr/>
        </p:nvSpPr>
        <p:spPr>
          <a:xfrm>
            <a:off x="533400" y="2314575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1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姓名 · 电话 · 地址 · 身份证 · 邮箱 · 银行卡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6216C2-7F79-4FCC-9AE2-C3DC7CE516E7}"/>
              </a:ext>
            </a:extLst>
          </p:cNvPr>
          <p:cNvSpPr>
            <a:spLocks noGrp="1"/>
          </p:cNvSpPr>
          <p:nvPr/>
        </p:nvSpPr>
        <p:spPr>
          <a:xfrm>
            <a:off x="533400" y="27813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42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人工打码把“识别”和“定位”都交给人完成，规模越大，漏打风险越高。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3A907A-8FF6-4805-A23B-6379C347A810}"/>
              </a:ext>
            </a:extLst>
          </p:cNvPr>
          <p:cNvSpPr>
            <a:spLocks noGrp="1"/>
          </p:cNvSpPr>
          <p:nvPr/>
        </p:nvSpPr>
        <p:spPr>
          <a:xfrm>
            <a:off x="533400" y="3457575"/>
            <a:ext cx="1971675" cy="186690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6D2FCC-73AA-49DD-8185-368054582F49}"/>
              </a:ext>
            </a:extLst>
          </p:cNvPr>
          <p:cNvSpPr>
            <a:spLocks noGrp="1"/>
          </p:cNvSpPr>
          <p:nvPr/>
        </p:nvSpPr>
        <p:spPr>
          <a:xfrm>
            <a:off x="533400" y="3457575"/>
            <a:ext cx="1971675" cy="7620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E56722-C0DD-4171-88DF-7EECB89CB945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51B70E-0C10-48B5-8DCD-3921A242CEC2}"/>
              </a:ext>
            </a:extLst>
          </p:cNvPr>
          <p:cNvSpPr>
            <a:spLocks noGrp="1"/>
          </p:cNvSpPr>
          <p:nvPr/>
        </p:nvSpPr>
        <p:spPr>
          <a:xfrm>
            <a:off x="704850" y="4257675"/>
            <a:ext cx="1600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逐张查找、逐处涂黑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E0303B-E4FF-4FEE-9747-9C7A46829129}"/>
              </a:ext>
            </a:extLst>
          </p:cNvPr>
          <p:cNvSpPr>
            <a:spLocks noGrp="1"/>
          </p:cNvSpPr>
          <p:nvPr/>
        </p:nvSpPr>
        <p:spPr>
          <a:xfrm>
            <a:off x="2733675" y="3457575"/>
            <a:ext cx="1971675" cy="186690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FD086E1-3D51-49E7-B20B-754BB1E79754}"/>
              </a:ext>
            </a:extLst>
          </p:cNvPr>
          <p:cNvSpPr>
            <a:spLocks noGrp="1"/>
          </p:cNvSpPr>
          <p:nvPr/>
        </p:nvSpPr>
        <p:spPr>
          <a:xfrm>
            <a:off x="2733675" y="3457575"/>
            <a:ext cx="1971675" cy="7620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453D98-E4D8-4021-B06C-26E40D8DC6CE}"/>
              </a:ext>
            </a:extLst>
          </p:cNvPr>
          <p:cNvSpPr>
            <a:spLocks noGrp="1"/>
          </p:cNvSpPr>
          <p:nvPr/>
        </p:nvSpPr>
        <p:spPr>
          <a:xfrm>
            <a:off x="2905125" y="37147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漏检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9C3374-E466-48A0-BD05-28C3C83AF33D}"/>
              </a:ext>
            </a:extLst>
          </p:cNvPr>
          <p:cNvSpPr>
            <a:spLocks noGrp="1"/>
          </p:cNvSpPr>
          <p:nvPr/>
        </p:nvSpPr>
        <p:spPr>
          <a:xfrm>
            <a:off x="2905125" y="4257675"/>
            <a:ext cx="1600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细小字段或跨行信息易被忽略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AAF231-376A-4CD8-A6FB-697990843EB4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1971675" cy="186690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FC325DC-9FEA-48D9-8EBC-67D7975685D7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1971675" cy="7620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0BF8F54-893E-48B2-B161-FDD01D86DA46}"/>
              </a:ext>
            </a:extLst>
          </p:cNvPr>
          <p:cNvSpPr>
            <a:spLocks noGrp="1"/>
          </p:cNvSpPr>
          <p:nvPr/>
        </p:nvSpPr>
        <p:spPr>
          <a:xfrm>
            <a:off x="5105400" y="37147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46EC24D-9253-4635-B726-E0CCD4EBD0E5}"/>
              </a:ext>
            </a:extLst>
          </p:cNvPr>
          <p:cNvSpPr>
            <a:spLocks noGrp="1"/>
          </p:cNvSpPr>
          <p:nvPr/>
        </p:nvSpPr>
        <p:spPr>
          <a:xfrm>
            <a:off x="5105400" y="4257675"/>
            <a:ext cx="1600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缺少统一输出与失败隔离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89CF28E-FB25-41DB-8CFD-D46B8D5573FF}"/>
              </a:ext>
            </a:extLst>
          </p:cNvPr>
          <p:cNvSpPr>
            <a:spLocks noGrp="1"/>
          </p:cNvSpPr>
          <p:nvPr/>
        </p:nvSpPr>
        <p:spPr>
          <a:xfrm>
            <a:off x="7134225" y="3457575"/>
            <a:ext cx="1971675" cy="186690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BEAE511-5C65-4740-8173-8FC6CCC19B8A}"/>
              </a:ext>
            </a:extLst>
          </p:cNvPr>
          <p:cNvSpPr>
            <a:spLocks noGrp="1"/>
          </p:cNvSpPr>
          <p:nvPr/>
        </p:nvSpPr>
        <p:spPr>
          <a:xfrm>
            <a:off x="7134225" y="3457575"/>
            <a:ext cx="1971675" cy="7620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4432C3A-41D0-4B79-B59B-0C90035FA390}"/>
              </a:ext>
            </a:extLst>
          </p:cNvPr>
          <p:cNvSpPr>
            <a:spLocks noGrp="1"/>
          </p:cNvSpPr>
          <p:nvPr/>
        </p:nvSpPr>
        <p:spPr>
          <a:xfrm>
            <a:off x="7305675" y="37147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31F780-778A-4DAF-8D0A-ABBE853865BA}"/>
              </a:ext>
            </a:extLst>
          </p:cNvPr>
          <p:cNvSpPr>
            <a:spLocks noGrp="1"/>
          </p:cNvSpPr>
          <p:nvPr/>
        </p:nvSpPr>
        <p:spPr>
          <a:xfrm>
            <a:off x="7305675" y="4257675"/>
            <a:ext cx="1600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错字会沿检测链路传播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FFC3374-4F38-4BC8-BE27-72B5E3F01A73}"/>
              </a:ext>
            </a:extLst>
          </p:cNvPr>
          <p:cNvSpPr>
            <a:spLocks noGrp="1"/>
          </p:cNvSpPr>
          <p:nvPr/>
        </p:nvSpPr>
        <p:spPr>
          <a:xfrm>
            <a:off x="9334500" y="3457575"/>
            <a:ext cx="1971675" cy="186690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DE8D703-4BB9-4585-A631-48BCEA6E5CF9}"/>
              </a:ext>
            </a:extLst>
          </p:cNvPr>
          <p:cNvSpPr>
            <a:spLocks noGrp="1"/>
          </p:cNvSpPr>
          <p:nvPr/>
        </p:nvSpPr>
        <p:spPr>
          <a:xfrm>
            <a:off x="9334500" y="3457575"/>
            <a:ext cx="1971675" cy="7620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45EBC93-84F2-4E84-83BE-8C331DE974BF}"/>
              </a:ext>
            </a:extLst>
          </p:cNvPr>
          <p:cNvSpPr>
            <a:spLocks noGrp="1"/>
          </p:cNvSpPr>
          <p:nvPr/>
        </p:nvSpPr>
        <p:spPr>
          <a:xfrm>
            <a:off x="9505950" y="37147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复杂成像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4C304C9-7B9B-43B9-B6C5-38F63DC08A54}"/>
              </a:ext>
            </a:extLst>
          </p:cNvPr>
          <p:cNvSpPr>
            <a:spLocks noGrp="1"/>
          </p:cNvSpPr>
          <p:nvPr/>
        </p:nvSpPr>
        <p:spPr>
          <a:xfrm>
            <a:off x="9505950" y="4257675"/>
            <a:ext cx="1600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手写、倾斜、阴影、低清晰度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4FFB9E-2C6A-4071-B011-585E3E2B9B04}"/>
              </a:ext>
            </a:extLst>
          </p:cNvPr>
          <p:cNvSpPr>
            <a:spLocks noGrp="1"/>
          </p:cNvSpPr>
          <p:nvPr/>
        </p:nvSpPr>
        <p:spPr>
          <a:xfrm>
            <a:off x="533400" y="5619750"/>
            <a:ext cx="11125200" cy="5143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E769F86-F9E9-4E57-A37E-EE0BC5DA5980}"/>
              </a:ext>
            </a:extLst>
          </p:cNvPr>
          <p:cNvSpPr>
            <a:spLocks noGrp="1"/>
          </p:cNvSpPr>
          <p:nvPr/>
        </p:nvSpPr>
        <p:spPr>
          <a:xfrm>
            <a:off x="762000" y="572452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6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核心矛盾：检测到敏感实体，不代表已经在原图上完整遮挡。</a:t>
            </a:r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B32C8F5F-FB19-4423-BC68-2633C824C5A3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D6D7D2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6EE6498-7C24-44AE-A584-C5411567FBD0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问题定义：实体识别 + 图像区域完整覆盖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3717BF9-24C4-4A83-A0F8-216D54645CCC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466128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19D963AC-1E93-4AEE-809B-823DEF3740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B7F5C0-DA7A-4FA5-B26A-238E83CF628A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78F28F-AAA6-4E56-A91E-51526E94FB43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目标不是模型 Demo，而是可运行的产品闭环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1BFAF8-BA66-4D12-A628-04BE80673718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C302EA-A82B-46FF-B88E-94BD0C1F99F1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483758-8CB3-47B4-897C-EF3A7751C486}"/>
              </a:ext>
            </a:extLst>
          </p:cNvPr>
          <p:cNvSpPr>
            <a:spLocks noGrp="1"/>
          </p:cNvSpPr>
          <p:nvPr/>
        </p:nvSpPr>
        <p:spPr>
          <a:xfrm>
            <a:off x="647700" y="14478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7CA48D-4CFF-4682-BA99-9A1D29A9726C}"/>
              </a:ext>
            </a:extLst>
          </p:cNvPr>
          <p:cNvSpPr>
            <a:spLocks noGrp="1"/>
          </p:cNvSpPr>
          <p:nvPr/>
        </p:nvSpPr>
        <p:spPr>
          <a:xfrm>
            <a:off x="1047750" y="143827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图片上传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B3992B-C1E7-4BD4-9241-D891009ADA39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多格式输入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77056D-D156-401E-A680-53D96C3DEDE4}"/>
              </a:ext>
            </a:extLst>
          </p:cNvPr>
          <p:cNvSpPr>
            <a:spLocks noGrp="1"/>
          </p:cNvSpPr>
          <p:nvPr/>
        </p:nvSpPr>
        <p:spPr>
          <a:xfrm>
            <a:off x="4248150" y="133350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11E0B1-57B9-4830-A423-F36FA8007E0C}"/>
              </a:ext>
            </a:extLst>
          </p:cNvPr>
          <p:cNvSpPr>
            <a:spLocks noGrp="1"/>
          </p:cNvSpPr>
          <p:nvPr/>
        </p:nvSpPr>
        <p:spPr>
          <a:xfrm>
            <a:off x="4362450" y="14478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5EDC90-B5F3-4C73-A63F-35CE40613509}"/>
              </a:ext>
            </a:extLst>
          </p:cNvPr>
          <p:cNvSpPr>
            <a:spLocks noGrp="1"/>
          </p:cNvSpPr>
          <p:nvPr/>
        </p:nvSpPr>
        <p:spPr>
          <a:xfrm>
            <a:off x="4762500" y="143827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 识别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532536-BC65-4876-A590-1C2B0BA52226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文字 + 坐标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5A8134-82AF-4ED1-9F78-66162D4683AF}"/>
              </a:ext>
            </a:extLst>
          </p:cNvPr>
          <p:cNvSpPr>
            <a:spLocks noGrp="1"/>
          </p:cNvSpPr>
          <p:nvPr/>
        </p:nvSpPr>
        <p:spPr>
          <a:xfrm>
            <a:off x="7962900" y="133350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13FBC3-BBCF-462E-B4A9-49458EBD602C}"/>
              </a:ext>
            </a:extLst>
          </p:cNvPr>
          <p:cNvSpPr>
            <a:spLocks noGrp="1"/>
          </p:cNvSpPr>
          <p:nvPr/>
        </p:nvSpPr>
        <p:spPr>
          <a:xfrm>
            <a:off x="8077200" y="14478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6A0753-61AC-4B1E-B61F-0E726B858A9F}"/>
              </a:ext>
            </a:extLst>
          </p:cNvPr>
          <p:cNvSpPr>
            <a:spLocks noGrp="1"/>
          </p:cNvSpPr>
          <p:nvPr/>
        </p:nvSpPr>
        <p:spPr>
          <a:xfrm>
            <a:off x="8477250" y="143827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实体检测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EF2907-BB64-4CA9-81C3-AE5DD4F1793B}"/>
              </a:ext>
            </a:extLst>
          </p:cNvPr>
          <p:cNvSpPr>
            <a:spLocks noGrp="1"/>
          </p:cNvSpPr>
          <p:nvPr/>
        </p:nvSpPr>
        <p:spPr>
          <a:xfrm>
            <a:off x="8134350" y="18097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规则 + NER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3C3951-9543-4489-A137-6CFC6DC90934}"/>
              </a:ext>
            </a:extLst>
          </p:cNvPr>
          <p:cNvSpPr>
            <a:spLocks noGrp="1"/>
          </p:cNvSpPr>
          <p:nvPr/>
        </p:nvSpPr>
        <p:spPr>
          <a:xfrm>
            <a:off x="533400" y="276225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0C20B8-DAE5-49DC-87D9-B6DDDB6AF55B}"/>
              </a:ext>
            </a:extLst>
          </p:cNvPr>
          <p:cNvSpPr>
            <a:spLocks noGrp="1"/>
          </p:cNvSpPr>
          <p:nvPr/>
        </p:nvSpPr>
        <p:spPr>
          <a:xfrm>
            <a:off x="647700" y="28765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6C34C5-BF39-4EEC-AFD4-18480B9417DF}"/>
              </a:ext>
            </a:extLst>
          </p:cNvPr>
          <p:cNvSpPr>
            <a:spLocks noGrp="1"/>
          </p:cNvSpPr>
          <p:nvPr/>
        </p:nvSpPr>
        <p:spPr>
          <a:xfrm>
            <a:off x="1047750" y="286702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坐标映射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0E3125-ED24-40F8-94F1-725257DA49A8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字符回到像素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ED7A61-DA63-4EB2-B055-38E5204BA8B1}"/>
              </a:ext>
            </a:extLst>
          </p:cNvPr>
          <p:cNvSpPr>
            <a:spLocks noGrp="1"/>
          </p:cNvSpPr>
          <p:nvPr/>
        </p:nvSpPr>
        <p:spPr>
          <a:xfrm>
            <a:off x="4248150" y="276225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06889F-ABA3-4D6F-88FB-0AA5F1435113}"/>
              </a:ext>
            </a:extLst>
          </p:cNvPr>
          <p:cNvSpPr>
            <a:spLocks noGrp="1"/>
          </p:cNvSpPr>
          <p:nvPr/>
        </p:nvSpPr>
        <p:spPr>
          <a:xfrm>
            <a:off x="4362450" y="28765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54B08D-31B6-4F38-B4BA-6C41A495D86A}"/>
              </a:ext>
            </a:extLst>
          </p:cNvPr>
          <p:cNvSpPr>
            <a:spLocks noGrp="1"/>
          </p:cNvSpPr>
          <p:nvPr/>
        </p:nvSpPr>
        <p:spPr>
          <a:xfrm>
            <a:off x="4762500" y="286702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自动打码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5DA543B-B412-453C-BDCA-9B4062AFBECA}"/>
              </a:ext>
            </a:extLst>
          </p:cNvPr>
          <p:cNvSpPr>
            <a:spLocks noGrp="1"/>
          </p:cNvSpPr>
          <p:nvPr/>
        </p:nvSpPr>
        <p:spPr>
          <a:xfrm>
            <a:off x="4419600" y="323850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黑框 / 马赛克 / 模糊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A83AD1-A806-4766-AA96-9566A0B49C89}"/>
              </a:ext>
            </a:extLst>
          </p:cNvPr>
          <p:cNvSpPr>
            <a:spLocks noGrp="1"/>
          </p:cNvSpPr>
          <p:nvPr/>
        </p:nvSpPr>
        <p:spPr>
          <a:xfrm>
            <a:off x="7962900" y="276225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DC49CF-56C1-483A-9703-AA03090E5937}"/>
              </a:ext>
            </a:extLst>
          </p:cNvPr>
          <p:cNvSpPr>
            <a:spLocks noGrp="1"/>
          </p:cNvSpPr>
          <p:nvPr/>
        </p:nvSpPr>
        <p:spPr>
          <a:xfrm>
            <a:off x="8077200" y="28765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288132-1F9F-4D2C-97F6-D45BD45EE38B}"/>
              </a:ext>
            </a:extLst>
          </p:cNvPr>
          <p:cNvSpPr>
            <a:spLocks noGrp="1"/>
          </p:cNvSpPr>
          <p:nvPr/>
        </p:nvSpPr>
        <p:spPr>
          <a:xfrm>
            <a:off x="8477250" y="286702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D9E1AD-3FD1-41D8-8CB8-1B3AA41C5B94}"/>
              </a:ext>
            </a:extLst>
          </p:cNvPr>
          <p:cNvSpPr>
            <a:spLocks noGrp="1"/>
          </p:cNvSpPr>
          <p:nvPr/>
        </p:nvSpPr>
        <p:spPr>
          <a:xfrm>
            <a:off x="8134350" y="323850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实体可取消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31C2BE1-AC41-44BB-B379-A7EA8CDDBE97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6D1F42-D1B7-4324-8434-DBFCC588A457}"/>
              </a:ext>
            </a:extLst>
          </p:cNvPr>
          <p:cNvSpPr>
            <a:spLocks noGrp="1"/>
          </p:cNvSpPr>
          <p:nvPr/>
        </p:nvSpPr>
        <p:spPr>
          <a:xfrm>
            <a:off x="647700" y="43053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2B92CB-22B6-462A-A45A-AF4685CDC086}"/>
              </a:ext>
            </a:extLst>
          </p:cNvPr>
          <p:cNvSpPr>
            <a:spLocks noGrp="1"/>
          </p:cNvSpPr>
          <p:nvPr/>
        </p:nvSpPr>
        <p:spPr>
          <a:xfrm>
            <a:off x="1047750" y="429577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批量处理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A0FF7F-0AD9-4958-929F-47B2E200F71E}"/>
              </a:ext>
            </a:extLst>
          </p:cNvPr>
          <p:cNvSpPr>
            <a:spLocks noGrp="1"/>
          </p:cNvSpPr>
          <p:nvPr/>
        </p:nvSpPr>
        <p:spPr>
          <a:xfrm>
            <a:off x="704850" y="46672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故障隔离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81305F-63ED-4A13-8FAB-1A1995FE71BA}"/>
              </a:ext>
            </a:extLst>
          </p:cNvPr>
          <p:cNvSpPr>
            <a:spLocks noGrp="1"/>
          </p:cNvSpPr>
          <p:nvPr/>
        </p:nvSpPr>
        <p:spPr>
          <a:xfrm>
            <a:off x="4248150" y="419100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156EA08-FBED-4674-82EF-35C0121FAB91}"/>
              </a:ext>
            </a:extLst>
          </p:cNvPr>
          <p:cNvSpPr>
            <a:spLocks noGrp="1"/>
          </p:cNvSpPr>
          <p:nvPr/>
        </p:nvSpPr>
        <p:spPr>
          <a:xfrm>
            <a:off x="4362450" y="43053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643C3D-9173-4E76-8B79-A6267425A6B6}"/>
              </a:ext>
            </a:extLst>
          </p:cNvPr>
          <p:cNvSpPr>
            <a:spLocks noGrp="1"/>
          </p:cNvSpPr>
          <p:nvPr/>
        </p:nvSpPr>
        <p:spPr>
          <a:xfrm>
            <a:off x="4762500" y="429577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历史记录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4C5BC9-697A-472D-9DC5-0443F623F35C}"/>
              </a:ext>
            </a:extLst>
          </p:cNvPr>
          <p:cNvSpPr>
            <a:spLocks noGrp="1"/>
          </p:cNvSpPr>
          <p:nvPr/>
        </p:nvSpPr>
        <p:spPr>
          <a:xfrm>
            <a:off x="4419600" y="46672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SQLite 可检索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2CA6621-0B05-4E57-9E66-23F2C02159C5}"/>
              </a:ext>
            </a:extLst>
          </p:cNvPr>
          <p:cNvSpPr>
            <a:spLocks noGrp="1"/>
          </p:cNvSpPr>
          <p:nvPr/>
        </p:nvSpPr>
        <p:spPr>
          <a:xfrm>
            <a:off x="7962900" y="4191000"/>
            <a:ext cx="3371850" cy="11811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64C8E44-5C7E-42CB-8D8C-42BAA761B78E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89F8F7-F6D0-47D8-94C3-9760BCD51CBF}"/>
              </a:ext>
            </a:extLst>
          </p:cNvPr>
          <p:cNvSpPr>
            <a:spLocks noGrp="1"/>
          </p:cNvSpPr>
          <p:nvPr/>
        </p:nvSpPr>
        <p:spPr>
          <a:xfrm>
            <a:off x="8477250" y="429577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测试评估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8C83E56-94E3-4F2E-9605-A3BEF1A6312B}"/>
              </a:ext>
            </a:extLst>
          </p:cNvPr>
          <p:cNvSpPr>
            <a:spLocks noGrp="1"/>
          </p:cNvSpPr>
          <p:nvPr/>
        </p:nvSpPr>
        <p:spPr>
          <a:xfrm>
            <a:off x="8134350" y="4667250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报告可追溯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71C4F4A-8EDD-4F7C-B2C3-DD0D7551088E}"/>
              </a:ext>
            </a:extLst>
          </p:cNvPr>
          <p:cNvSpPr>
            <a:spLocks noGrp="1"/>
          </p:cNvSpPr>
          <p:nvPr/>
        </p:nvSpPr>
        <p:spPr>
          <a:xfrm>
            <a:off x="533400" y="5848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MVP 验收标准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736E661-A104-4A5F-9978-8E39F2740320}"/>
              </a:ext>
            </a:extLst>
          </p:cNvPr>
          <p:cNvSpPr>
            <a:spLocks noGrp="1"/>
          </p:cNvSpPr>
          <p:nvPr/>
        </p:nvSpPr>
        <p:spPr>
          <a:xfrm>
            <a:off x="2381250" y="5829300"/>
            <a:ext cx="866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8485"/>
          </a:bodyPr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输入能处理 · 结果能解释 · 输出能下载 · 风险能暴露</a:t>
            </a:r>
          </a:p>
        </p:txBody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80F21597-83CC-416C-A4B0-28D4048CD7BD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C61589A-B96F-43AE-AEB6-EB0A88B4F18C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系统范围：图片、文本、批量、历史、模型、状态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6C8FE58-4BDB-436F-85E3-D4D54F4F81F4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526729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1F98C46-42EA-43EF-B6FF-AC641AF8BC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37282E-7374-4D84-B8B7-6126F64D1FCC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8A49E8-6490-4318-8078-033A006C1A79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七阶段流水线把视觉、语义与几何连接起来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2DCC13-F0A7-44AE-A54E-3561F42DD042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2A6D26-7497-425C-A107-288F8097B177}"/>
              </a:ext>
            </a:extLst>
          </p:cNvPr>
          <p:cNvSpPr>
            <a:spLocks noGrp="1"/>
          </p:cNvSpPr>
          <p:nvPr/>
        </p:nvSpPr>
        <p:spPr>
          <a:xfrm>
            <a:off x="438150" y="1819275"/>
            <a:ext cx="990600" cy="857250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FD502A-6EFB-4F6F-8CA8-412F8CE43571}"/>
              </a:ext>
            </a:extLst>
          </p:cNvPr>
          <p:cNvSpPr>
            <a:spLocks noGrp="1"/>
          </p:cNvSpPr>
          <p:nvPr/>
        </p:nvSpPr>
        <p:spPr>
          <a:xfrm>
            <a:off x="533400" y="1971675"/>
            <a:ext cx="800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输入图片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E4F9A6-BC2E-45C2-81F0-46FBCD44061F}"/>
              </a:ext>
            </a:extLst>
          </p:cNvPr>
          <p:cNvSpPr>
            <a:spLocks noGrp="1"/>
          </p:cNvSpPr>
          <p:nvPr/>
        </p:nvSpPr>
        <p:spPr>
          <a:xfrm>
            <a:off x="514350" y="23336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PNG / JPG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334BA4-A131-41D6-B9E8-FDED9F66B40E}"/>
              </a:ext>
            </a:extLst>
          </p:cNvPr>
          <p:cNvSpPr>
            <a:spLocks noGrp="1"/>
          </p:cNvSpPr>
          <p:nvPr/>
        </p:nvSpPr>
        <p:spPr>
          <a:xfrm>
            <a:off x="1695450" y="1819275"/>
            <a:ext cx="1238250" cy="857250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D7786C-B07C-4D61-8134-522E14B863F5}"/>
              </a:ext>
            </a:extLst>
          </p:cNvPr>
          <p:cNvSpPr>
            <a:spLocks noGrp="1"/>
          </p:cNvSpPr>
          <p:nvPr/>
        </p:nvSpPr>
        <p:spPr>
          <a:xfrm>
            <a:off x="1790700" y="19716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图像预处理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2B1A5-6766-4394-951C-839B7C98937B}"/>
              </a:ext>
            </a:extLst>
          </p:cNvPr>
          <p:cNvSpPr>
            <a:spLocks noGrp="1"/>
          </p:cNvSpPr>
          <p:nvPr/>
        </p:nvSpPr>
        <p:spPr>
          <a:xfrm>
            <a:off x="1771650" y="23336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旋转 / 增强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1A2B78-CDCE-4305-A796-48B8C2D894F4}"/>
              </a:ext>
            </a:extLst>
          </p:cNvPr>
          <p:cNvSpPr>
            <a:spLocks noGrp="1"/>
          </p:cNvSpPr>
          <p:nvPr/>
        </p:nvSpPr>
        <p:spPr>
          <a:xfrm>
            <a:off x="3219450" y="1819275"/>
            <a:ext cx="1238250" cy="857250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A95631-31AD-491B-BE7D-9988D1035627}"/>
              </a:ext>
            </a:extLst>
          </p:cNvPr>
          <p:cNvSpPr>
            <a:spLocks noGrp="1"/>
          </p:cNvSpPr>
          <p:nvPr/>
        </p:nvSpPr>
        <p:spPr>
          <a:xfrm>
            <a:off x="3314700" y="19716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B7AC7A-5CE8-4529-B99D-168BBBC58E7E}"/>
              </a:ext>
            </a:extLst>
          </p:cNvPr>
          <p:cNvSpPr>
            <a:spLocks noGrp="1"/>
          </p:cNvSpPr>
          <p:nvPr/>
        </p:nvSpPr>
        <p:spPr>
          <a:xfrm>
            <a:off x="3295650" y="23336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文本 + polygon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857417-4958-4BD1-9CF3-C4BDE7A56492}"/>
              </a:ext>
            </a:extLst>
          </p:cNvPr>
          <p:cNvSpPr>
            <a:spLocks noGrp="1"/>
          </p:cNvSpPr>
          <p:nvPr/>
        </p:nvSpPr>
        <p:spPr>
          <a:xfrm>
            <a:off x="4743450" y="1571625"/>
            <a:ext cx="2190750" cy="1352550"/>
          </a:xfrm>
          <a:prstGeom prst="rect">
            <a:avLst/>
          </a:prstGeom>
          <a:solidFill>
            <a:srgbClr val="F5C400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4D00BB-CB1F-4EC8-86C9-53B07599AC3B}"/>
              </a:ext>
            </a:extLst>
          </p:cNvPr>
          <p:cNvSpPr>
            <a:spLocks noGrp="1"/>
          </p:cNvSpPr>
          <p:nvPr/>
        </p:nvSpPr>
        <p:spPr>
          <a:xfrm>
            <a:off x="4838700" y="17240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混合实体检测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10C0E1-DFD0-4877-A2FC-FFA4572FA773}"/>
              </a:ext>
            </a:extLst>
          </p:cNvPr>
          <p:cNvSpPr>
            <a:spLocks noGrp="1"/>
          </p:cNvSpPr>
          <p:nvPr/>
        </p:nvSpPr>
        <p:spPr>
          <a:xfrm>
            <a:off x="4819650" y="208597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候选融合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D65AB5-A1CB-424F-B4CB-4CDFAF0BC7C9}"/>
              </a:ext>
            </a:extLst>
          </p:cNvPr>
          <p:cNvSpPr>
            <a:spLocks noGrp="1"/>
          </p:cNvSpPr>
          <p:nvPr/>
        </p:nvSpPr>
        <p:spPr>
          <a:xfrm>
            <a:off x="7219950" y="1819275"/>
            <a:ext cx="1238250" cy="857250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7FA98A-D229-4040-A2E7-0FAACBB08A8E}"/>
              </a:ext>
            </a:extLst>
          </p:cNvPr>
          <p:cNvSpPr>
            <a:spLocks noGrp="1"/>
          </p:cNvSpPr>
          <p:nvPr/>
        </p:nvSpPr>
        <p:spPr>
          <a:xfrm>
            <a:off x="7315200" y="19716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坐标映射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6BE658-91FB-4CBF-A049-B0474160A57B}"/>
              </a:ext>
            </a:extLst>
          </p:cNvPr>
          <p:cNvSpPr>
            <a:spLocks noGrp="1"/>
          </p:cNvSpPr>
          <p:nvPr/>
        </p:nvSpPr>
        <p:spPr>
          <a:xfrm>
            <a:off x="7296150" y="23336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span → box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8153BC2-A97C-4547-8A5D-5B6F15AF439D}"/>
              </a:ext>
            </a:extLst>
          </p:cNvPr>
          <p:cNvSpPr>
            <a:spLocks noGrp="1"/>
          </p:cNvSpPr>
          <p:nvPr/>
        </p:nvSpPr>
        <p:spPr>
          <a:xfrm>
            <a:off x="8743950" y="1819275"/>
            <a:ext cx="1276350" cy="857250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57EF15-3F6C-411F-8269-8681E732FCDF}"/>
              </a:ext>
            </a:extLst>
          </p:cNvPr>
          <p:cNvSpPr>
            <a:spLocks noGrp="1"/>
          </p:cNvSpPr>
          <p:nvPr/>
        </p:nvSpPr>
        <p:spPr>
          <a:xfrm>
            <a:off x="8839200" y="1971675"/>
            <a:ext cx="1085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图像打码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D100C3-57C9-4D18-AA05-2D805CA9AC74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3 种模式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E7DE7F-C890-48C6-8764-F4B969189FC7}"/>
              </a:ext>
            </a:extLst>
          </p:cNvPr>
          <p:cNvSpPr>
            <a:spLocks noGrp="1"/>
          </p:cNvSpPr>
          <p:nvPr/>
        </p:nvSpPr>
        <p:spPr>
          <a:xfrm>
            <a:off x="10306050" y="1819275"/>
            <a:ext cx="1428750" cy="857250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FFBD202-9DC4-43CB-B97C-A37C860CF2EA}"/>
              </a:ext>
            </a:extLst>
          </p:cNvPr>
          <p:cNvSpPr>
            <a:spLocks noGrp="1"/>
          </p:cNvSpPr>
          <p:nvPr/>
        </p:nvSpPr>
        <p:spPr>
          <a:xfrm>
            <a:off x="10401300" y="1971675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输出与审计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B0A6BF-7342-410E-8C5C-DBEB9981DA01}"/>
              </a:ext>
            </a:extLst>
          </p:cNvPr>
          <p:cNvSpPr>
            <a:spLocks noGrp="1"/>
          </p:cNvSpPr>
          <p:nvPr/>
        </p:nvSpPr>
        <p:spPr>
          <a:xfrm>
            <a:off x="10382250" y="2333625"/>
            <a:ext cx="1276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图 / Mask / JSON</a:t>
            </a:r>
          </a:p>
        </p:txBody>
      </p:sp>
      <p:cxnSp>
        <p:nvCxnSpPr>
          <p:cNvPr id="79" name="直接箭头连接符 78"/>
          <p:cNvCxnSpPr>
            <a:stCxn id="5" idx="3"/>
            <a:endCxn id="8" idx="1"/>
          </p:cNvCxnSpPr>
          <p:nvPr/>
        </p:nvCxnSpPr>
        <p:spPr>
          <a:xfrm>
            <a:off x="1428750" y="2247900"/>
            <a:ext cx="266700" cy="0"/>
          </a:xfrm>
          <a:prstGeom prst="straightConnector1">
            <a:avLst/>
          </a:prstGeom>
          <a:ln w="28575">
            <a:solidFill>
              <a:srgbClr val="D9AE00"/>
            </a:solidFill>
            <a:prstDash val="solid"/>
            <a:tailEnd type="triangle" w="sm" len="sm"/>
          </a:ln>
        </p:spPr>
      </p:cxnSp>
      <p:cxnSp>
        <p:nvCxnSpPr>
          <p:cNvPr id="80" name="直接箭头连接符 79"/>
          <p:cNvCxnSpPr>
            <a:stCxn id="8" idx="3"/>
            <a:endCxn id="11" idx="1"/>
          </p:cNvCxnSpPr>
          <p:nvPr/>
        </p:nvCxnSpPr>
        <p:spPr>
          <a:xfrm>
            <a:off x="2933700" y="2247900"/>
            <a:ext cx="285750" cy="0"/>
          </a:xfrm>
          <a:prstGeom prst="straightConnector1">
            <a:avLst/>
          </a:prstGeom>
          <a:ln w="28575">
            <a:solidFill>
              <a:srgbClr val="D9AE00"/>
            </a:solidFill>
            <a:prstDash val="solid"/>
            <a:tailEnd type="triangle" w="sm" len="sm"/>
          </a:ln>
        </p:spPr>
      </p:cxnSp>
      <p:cxnSp>
        <p:nvCxnSpPr>
          <p:cNvPr id="81" name="直接箭头连接符 80"/>
          <p:cNvCxnSpPr>
            <a:stCxn id="11" idx="3"/>
            <a:endCxn id="14" idx="1"/>
          </p:cNvCxnSpPr>
          <p:nvPr/>
        </p:nvCxnSpPr>
        <p:spPr>
          <a:xfrm>
            <a:off x="4457700" y="2247900"/>
            <a:ext cx="285750" cy="0"/>
          </a:xfrm>
          <a:prstGeom prst="straightConnector1">
            <a:avLst/>
          </a:prstGeom>
          <a:ln w="28575">
            <a:solidFill>
              <a:srgbClr val="D9AE00"/>
            </a:solidFill>
            <a:prstDash val="solid"/>
            <a:tailEnd type="triangle" w="sm" len="sm"/>
          </a:ln>
        </p:spPr>
      </p:cxnSp>
      <p:cxnSp>
        <p:nvCxnSpPr>
          <p:cNvPr id="82" name="直接箭头连接符 81"/>
          <p:cNvCxnSpPr>
            <a:stCxn id="14" idx="3"/>
            <a:endCxn id="17" idx="1"/>
          </p:cNvCxnSpPr>
          <p:nvPr/>
        </p:nvCxnSpPr>
        <p:spPr>
          <a:xfrm>
            <a:off x="6934200" y="2247900"/>
            <a:ext cx="285750" cy="0"/>
          </a:xfrm>
          <a:prstGeom prst="straightConnector1">
            <a:avLst/>
          </a:prstGeom>
          <a:ln w="28575">
            <a:solidFill>
              <a:srgbClr val="D9AE00"/>
            </a:solidFill>
            <a:prstDash val="solid"/>
            <a:tailEnd type="triangle" w="sm" len="sm"/>
          </a:ln>
        </p:spPr>
      </p:cxnSp>
      <p:cxnSp>
        <p:nvCxnSpPr>
          <p:cNvPr id="83" name="直接箭头连接符 82"/>
          <p:cNvCxnSpPr>
            <a:stCxn id="17" idx="3"/>
            <a:endCxn id="20" idx="1"/>
          </p:cNvCxnSpPr>
          <p:nvPr/>
        </p:nvCxnSpPr>
        <p:spPr>
          <a:xfrm>
            <a:off x="8458200" y="2247900"/>
            <a:ext cx="285750" cy="0"/>
          </a:xfrm>
          <a:prstGeom prst="straightConnector1">
            <a:avLst/>
          </a:prstGeom>
          <a:ln w="28575">
            <a:solidFill>
              <a:srgbClr val="D9AE00"/>
            </a:solidFill>
            <a:prstDash val="solid"/>
            <a:tailEnd type="triangle" w="sm" len="sm"/>
          </a:ln>
        </p:spPr>
      </p:cxnSp>
      <p:cxnSp>
        <p:nvCxnSpPr>
          <p:cNvPr id="84" name="直接箭头连接符 83"/>
          <p:cNvCxnSpPr>
            <a:stCxn id="20" idx="3"/>
            <a:endCxn id="23" idx="1"/>
          </p:cNvCxnSpPr>
          <p:nvPr/>
        </p:nvCxnSpPr>
        <p:spPr>
          <a:xfrm>
            <a:off x="10020300" y="2247900"/>
            <a:ext cx="285750" cy="0"/>
          </a:xfrm>
          <a:prstGeom prst="straightConnector1">
            <a:avLst/>
          </a:prstGeom>
          <a:ln w="28575">
            <a:solidFill>
              <a:srgbClr val="D9AE00"/>
            </a:solidFill>
            <a:prstDash val="solid"/>
            <a:tailEnd type="triangle" w="sm" len="sm"/>
          </a:ln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9596CABF-C1EB-4D3B-94D0-25E1E35B663E}"/>
              </a:ext>
            </a:extLst>
          </p:cNvPr>
          <p:cNvSpPr>
            <a:spLocks noGrp="1"/>
          </p:cNvSpPr>
          <p:nvPr/>
        </p:nvSpPr>
        <p:spPr>
          <a:xfrm>
            <a:off x="4381500" y="3381375"/>
            <a:ext cx="11239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B3677CE-478D-4BB1-A219-4C96C8A224CF}"/>
              </a:ext>
            </a:extLst>
          </p:cNvPr>
          <p:cNvSpPr>
            <a:spLocks noGrp="1"/>
          </p:cNvSpPr>
          <p:nvPr/>
        </p:nvSpPr>
        <p:spPr>
          <a:xfrm>
            <a:off x="4457700" y="3495675"/>
            <a:ext cx="971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规则检测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CC4A452-050E-440D-84BB-F6BDAA3CA108}"/>
              </a:ext>
            </a:extLst>
          </p:cNvPr>
          <p:cNvSpPr>
            <a:spLocks noGrp="1"/>
          </p:cNvSpPr>
          <p:nvPr/>
        </p:nvSpPr>
        <p:spPr>
          <a:xfrm>
            <a:off x="4457700" y="3810000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号码 / 邮箱</a:t>
            </a:r>
          </a:p>
          <a:p>
            <a:pPr algn="ctr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校验算法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11EF468-ED53-4C4B-8D2F-AAE000845971}"/>
              </a:ext>
            </a:extLst>
          </p:cNvPr>
          <p:cNvSpPr>
            <a:spLocks noGrp="1"/>
          </p:cNvSpPr>
          <p:nvPr/>
        </p:nvSpPr>
        <p:spPr>
          <a:xfrm>
            <a:off x="5619750" y="3381375"/>
            <a:ext cx="11239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220D380-61AF-41E4-883B-913D981844C5}"/>
              </a:ext>
            </a:extLst>
          </p:cNvPr>
          <p:cNvSpPr>
            <a:spLocks noGrp="1"/>
          </p:cNvSpPr>
          <p:nvPr/>
        </p:nvSpPr>
        <p:spPr>
          <a:xfrm>
            <a:off x="5695950" y="3495675"/>
            <a:ext cx="971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2059" lnSpcReduction="20000"/>
          </a:bodyPr>
          <a:lstStyle/>
          <a:p>
            <a:pPr algn="ctr">
              <a:def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MacBERT NER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304CEE6-E00E-4CEB-B357-57E037439FDE}"/>
              </a:ext>
            </a:extLst>
          </p:cNvPr>
          <p:cNvSpPr>
            <a:spLocks noGrp="1"/>
          </p:cNvSpPr>
          <p:nvPr/>
        </p:nvSpPr>
        <p:spPr>
          <a:xfrm>
            <a:off x="5695950" y="3810000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姓名 / 地址</a:t>
            </a:r>
          </a:p>
          <a:p>
            <a:pPr algn="ctr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语义实体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2D45621-A991-4973-A108-C9C481C7A5D3}"/>
              </a:ext>
            </a:extLst>
          </p:cNvPr>
          <p:cNvSpPr>
            <a:spLocks noGrp="1"/>
          </p:cNvSpPr>
          <p:nvPr/>
        </p:nvSpPr>
        <p:spPr>
          <a:xfrm>
            <a:off x="6858000" y="3381375"/>
            <a:ext cx="11239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E01F6A3-F9D8-4D7A-BA49-F0AA9F1CBE7C}"/>
              </a:ext>
            </a:extLst>
          </p:cNvPr>
          <p:cNvSpPr>
            <a:spLocks noGrp="1"/>
          </p:cNvSpPr>
          <p:nvPr/>
        </p:nvSpPr>
        <p:spPr>
          <a:xfrm>
            <a:off x="6934200" y="3495675"/>
            <a:ext cx="971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70769AA-FFA5-4A70-A1F5-0B3BADE22D03}"/>
              </a:ext>
            </a:extLst>
          </p:cNvPr>
          <p:cNvSpPr>
            <a:spLocks noGrp="1"/>
          </p:cNvSpPr>
          <p:nvPr/>
        </p:nvSpPr>
        <p:spPr>
          <a:xfrm>
            <a:off x="6934200" y="3810000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关键词补充</a:t>
            </a:r>
          </a:p>
          <a:p>
            <a:pPr algn="ctr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类型细化</a:t>
            </a:r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9F97EF08-2F9B-4B80-A152-3C6CD37890A7}"/>
              </a:ext>
            </a:extLst>
          </p:cNvPr>
          <p:cNvSpPr>
            <a:spLocks noGrp="1"/>
          </p:cNvSpPr>
          <p:nvPr/>
        </p:nvSpPr>
        <p:spPr>
          <a:xfrm>
            <a:off x="5838825" y="2933700"/>
            <a:ext cx="0" cy="438150"/>
          </a:xfrm>
          <a:prstGeom prst="line">
            <a:avLst/>
          </a:prstGeom>
          <a:noFill/>
          <a:ln w="19050">
            <a:solidFill>
              <a:srgbClr val="0C0D0E"/>
            </a:solidFill>
            <a:prstDash val="solid"/>
          </a:ln>
        </p:spPr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7071963B-1EE3-43D2-A2BF-C01CD7867AC1}"/>
              </a:ext>
            </a:extLst>
          </p:cNvPr>
          <p:cNvSpPr>
            <a:spLocks noGrp="1"/>
          </p:cNvSpPr>
          <p:nvPr/>
        </p:nvSpPr>
        <p:spPr>
          <a:xfrm>
            <a:off x="4943475" y="3276600"/>
            <a:ext cx="2476500" cy="0"/>
          </a:xfrm>
          <a:prstGeom prst="line">
            <a:avLst/>
          </a:prstGeom>
          <a:noFill/>
          <a:ln w="19050">
            <a:solidFill>
              <a:srgbClr val="0C0D0E"/>
            </a:solidFill>
            <a:prstDash val="solid"/>
          </a:ln>
        </p:spPr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465BDBAA-82D8-49CE-82DD-0949005EC209}"/>
              </a:ext>
            </a:extLst>
          </p:cNvPr>
          <p:cNvSpPr>
            <a:spLocks noGrp="1"/>
          </p:cNvSpPr>
          <p:nvPr/>
        </p:nvSpPr>
        <p:spPr>
          <a:xfrm>
            <a:off x="4943475" y="3276600"/>
            <a:ext cx="0" cy="104775"/>
          </a:xfrm>
          <a:prstGeom prst="line">
            <a:avLst/>
          </a:prstGeom>
          <a:noFill/>
          <a:ln w="19050">
            <a:solidFill>
              <a:srgbClr val="0C0D0E"/>
            </a:solidFill>
            <a:prstDash val="solid"/>
          </a:ln>
        </p:spPr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52BB49B7-B3EE-43BF-BB72-EC155B3226F4}"/>
              </a:ext>
            </a:extLst>
          </p:cNvPr>
          <p:cNvSpPr>
            <a:spLocks noGrp="1"/>
          </p:cNvSpPr>
          <p:nvPr/>
        </p:nvSpPr>
        <p:spPr>
          <a:xfrm>
            <a:off x="6181725" y="3276600"/>
            <a:ext cx="0" cy="104775"/>
          </a:xfrm>
          <a:prstGeom prst="line">
            <a:avLst/>
          </a:prstGeom>
          <a:noFill/>
          <a:ln w="19050">
            <a:solidFill>
              <a:srgbClr val="0C0D0E"/>
            </a:solidFill>
            <a:prstDash val="solid"/>
          </a:ln>
        </p:spPr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050CB8AB-E846-49B9-9F96-F9D8E743F1DB}"/>
              </a:ext>
            </a:extLst>
          </p:cNvPr>
          <p:cNvSpPr>
            <a:spLocks noGrp="1"/>
          </p:cNvSpPr>
          <p:nvPr/>
        </p:nvSpPr>
        <p:spPr>
          <a:xfrm>
            <a:off x="7419975" y="3276600"/>
            <a:ext cx="0" cy="104775"/>
          </a:xfrm>
          <a:prstGeom prst="line">
            <a:avLst/>
          </a:prstGeom>
          <a:noFill/>
          <a:ln w="19050">
            <a:solidFill>
              <a:srgbClr val="0C0D0E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09E2FFB-376A-47D8-99E4-7AF233A604CA}"/>
              </a:ext>
            </a:extLst>
          </p:cNvPr>
          <p:cNvSpPr>
            <a:spLocks noGrp="1"/>
          </p:cNvSpPr>
          <p:nvPr/>
        </p:nvSpPr>
        <p:spPr>
          <a:xfrm>
            <a:off x="533400" y="47720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运行时编排：DocumentProcessor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331698C-24A7-4F15-8462-0132E22D65AB}"/>
              </a:ext>
            </a:extLst>
          </p:cNvPr>
          <p:cNvSpPr>
            <a:spLocks noGrp="1"/>
          </p:cNvSpPr>
          <p:nvPr/>
        </p:nvSpPr>
        <p:spPr>
          <a:xfrm>
            <a:off x="533400" y="5153025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Gradio UI 只调用服务层；SQLite 保存历史；BatchService 隔离单文件失败。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68188B3-F480-497F-ABBA-E22A98449D46}"/>
              </a:ext>
            </a:extLst>
          </p:cNvPr>
          <p:cNvSpPr>
            <a:spLocks noGrp="1"/>
          </p:cNvSpPr>
          <p:nvPr/>
        </p:nvSpPr>
        <p:spPr>
          <a:xfrm>
            <a:off x="8648700" y="4705350"/>
            <a:ext cx="3086100" cy="97155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97A60D4-45FA-4823-B727-33A1023B900A}"/>
              </a:ext>
            </a:extLst>
          </p:cNvPr>
          <p:cNvSpPr>
            <a:spLocks noGrp="1"/>
          </p:cNvSpPr>
          <p:nvPr/>
        </p:nvSpPr>
        <p:spPr>
          <a:xfrm>
            <a:off x="8858250" y="48577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 FIRST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8A5C8C9-9541-400F-A9D3-C872AD1581A7}"/>
              </a:ext>
            </a:extLst>
          </p:cNvPr>
          <p:cNvSpPr>
            <a:spLocks noGrp="1"/>
          </p:cNvSpPr>
          <p:nvPr/>
        </p:nvSpPr>
        <p:spPr>
          <a:xfrm>
            <a:off x="8858250" y="52197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原始文档不上传第三方服务</a:t>
            </a:r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60698C0A-3C54-4FF2-BBCB-CDB21E97ABB9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D6D7D2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28CD3BE-F55D-44D8-8DB5-BCAE7E8FC543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实现：services/document_processor.py · app.py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88E3A91-56D8-4FC4-A719-24A235D39F93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832599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FABBF172-D347-4C84-9086-80B70821EC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C07F70-D9F9-4CA3-8703-9CF5C15B8828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6E0800-898D-48BE-8D62-FA550495EA89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混合技术栈按数据特性分工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947C74-F46C-4CED-8507-DE08E4FBDB98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666FB6-4F03-40AA-8C26-949F81FE8C5E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01 / 看见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58C88F-DB9C-4160-9541-D37380815CD3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E7D347A5-A82E-43BA-BB43-3AF2D83EB012}"/>
              </a:ext>
            </a:extLst>
          </p:cNvPr>
          <p:cNvSpPr>
            <a:spLocks noGrp="1"/>
          </p:cNvSpPr>
          <p:nvPr/>
        </p:nvSpPr>
        <p:spPr>
          <a:xfrm>
            <a:off x="533400" y="2305050"/>
            <a:ext cx="3238500" cy="0"/>
          </a:xfrm>
          <a:prstGeom prst="line">
            <a:avLst/>
          </a:prstGeom>
          <a:noFill/>
          <a:ln w="28575">
            <a:solidFill>
              <a:srgbClr val="30323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25821C-C6AA-4588-A87B-6C8B62E113A5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3143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PaddleOCR 提取文字、置信度与文本块位置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7746B1-2C91-4635-94B8-169D76C16884}"/>
              </a:ext>
            </a:extLst>
          </p:cNvPr>
          <p:cNvSpPr>
            <a:spLocks noGrp="1"/>
          </p:cNvSpPr>
          <p:nvPr/>
        </p:nvSpPr>
        <p:spPr>
          <a:xfrm>
            <a:off x="533400" y="3571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 → 文本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CEE753-F8F3-477B-92A7-72FF64FA56E3}"/>
              </a:ext>
            </a:extLst>
          </p:cNvPr>
          <p:cNvSpPr>
            <a:spLocks noGrp="1"/>
          </p:cNvSpPr>
          <p:nvPr/>
        </p:nvSpPr>
        <p:spPr>
          <a:xfrm>
            <a:off x="4267200" y="13906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02 / 理解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030B6C-103C-49E7-AF34-C8A69F5EDA24}"/>
              </a:ext>
            </a:extLst>
          </p:cNvPr>
          <p:cNvSpPr>
            <a:spLocks noGrp="1"/>
          </p:cNvSpPr>
          <p:nvPr/>
        </p:nvSpPr>
        <p:spPr>
          <a:xfrm>
            <a:off x="4267200" y="17145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 + NER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B32196A3-7424-457C-B372-AF4EDEAE1E43}"/>
              </a:ext>
            </a:extLst>
          </p:cNvPr>
          <p:cNvSpPr>
            <a:spLocks noGrp="1"/>
          </p:cNvSpPr>
          <p:nvPr/>
        </p:nvSpPr>
        <p:spPr>
          <a:xfrm>
            <a:off x="4267200" y="2305050"/>
            <a:ext cx="3238500" cy="0"/>
          </a:xfrm>
          <a:prstGeom prst="line">
            <a:avLst/>
          </a:prstGeom>
          <a:noFill/>
          <a:ln w="28575">
            <a:solidFill>
              <a:srgbClr val="F5C40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B43E13-CB1F-43B7-9B20-D6DFC6DBA817}"/>
              </a:ext>
            </a:extLst>
          </p:cNvPr>
          <p:cNvSpPr>
            <a:spLocks noGrp="1"/>
          </p:cNvSpPr>
          <p:nvPr/>
        </p:nvSpPr>
        <p:spPr>
          <a:xfrm>
            <a:off x="4267200" y="2571750"/>
            <a:ext cx="3143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格式实体走校验规则；语义实体走 MacBERT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6ACD45-F956-490D-9E17-408DFC25292E}"/>
              </a:ext>
            </a:extLst>
          </p:cNvPr>
          <p:cNvSpPr>
            <a:spLocks noGrp="1"/>
          </p:cNvSpPr>
          <p:nvPr/>
        </p:nvSpPr>
        <p:spPr>
          <a:xfrm>
            <a:off x="4267200" y="3571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文本 → 实体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D71EEB-9C7A-4384-A68D-604D66F33DB8}"/>
              </a:ext>
            </a:extLst>
          </p:cNvPr>
          <p:cNvSpPr>
            <a:spLocks noGrp="1"/>
          </p:cNvSpPr>
          <p:nvPr/>
        </p:nvSpPr>
        <p:spPr>
          <a:xfrm>
            <a:off x="8001000" y="13906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03 / 遮挡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9750AC-CBB8-4B2A-A6A3-B206B1446B06}"/>
              </a:ext>
            </a:extLst>
          </p:cNvPr>
          <p:cNvSpPr>
            <a:spLocks noGrp="1"/>
          </p:cNvSpPr>
          <p:nvPr/>
        </p:nvSpPr>
        <p:spPr>
          <a:xfrm>
            <a:off x="8001000" y="17145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CV 映射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264FC8FB-8CEA-4915-9F27-6AFD0043DEDD}"/>
              </a:ext>
            </a:extLst>
          </p:cNvPr>
          <p:cNvSpPr>
            <a:spLocks noGrp="1"/>
          </p:cNvSpPr>
          <p:nvPr/>
        </p:nvSpPr>
        <p:spPr>
          <a:xfrm>
            <a:off x="8001000" y="2305050"/>
            <a:ext cx="3238500" cy="0"/>
          </a:xfrm>
          <a:prstGeom prst="line">
            <a:avLst/>
          </a:prstGeom>
          <a:noFill/>
          <a:ln w="28575">
            <a:solidFill>
              <a:srgbClr val="30323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99C229-1CB6-4DA5-B6CE-B2165D977951}"/>
              </a:ext>
            </a:extLst>
          </p:cNvPr>
          <p:cNvSpPr>
            <a:spLocks noGrp="1"/>
          </p:cNvSpPr>
          <p:nvPr/>
        </p:nvSpPr>
        <p:spPr>
          <a:xfrm>
            <a:off x="8001000" y="2571750"/>
            <a:ext cx="3143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OpenCV / Pillow 把字符 span 还原为像素区域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658B1A-225A-45BB-A552-C6269703FDB3}"/>
              </a:ext>
            </a:extLst>
          </p:cNvPr>
          <p:cNvSpPr>
            <a:spLocks noGrp="1"/>
          </p:cNvSpPr>
          <p:nvPr/>
        </p:nvSpPr>
        <p:spPr>
          <a:xfrm>
            <a:off x="8001000" y="3571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实体 → 区域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EC33C08-5641-4324-9E20-86014F1C2C98}"/>
              </a:ext>
            </a:extLst>
          </p:cNvPr>
          <p:cNvSpPr>
            <a:spLocks noGrp="1"/>
          </p:cNvSpPr>
          <p:nvPr/>
        </p:nvSpPr>
        <p:spPr>
          <a:xfrm>
            <a:off x="533400" y="4314825"/>
            <a:ext cx="11125200" cy="1352550"/>
          </a:xfrm>
          <a:prstGeom prst="rect">
            <a:avLst/>
          </a:prstGeom>
          <a:solidFill>
            <a:srgbClr val="F4F4F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B320435-828F-40E7-B983-D3685CFBF428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1866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C3F57E-7127-42C2-8E72-A3AC13BC864F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B12B131-EF85-4A8B-9553-1E2378772C58}"/>
              </a:ext>
            </a:extLst>
          </p:cNvPr>
          <p:cNvSpPr>
            <a:spLocks noGrp="1"/>
          </p:cNvSpPr>
          <p:nvPr/>
        </p:nvSpPr>
        <p:spPr>
          <a:xfrm>
            <a:off x="2867025" y="4505325"/>
            <a:ext cx="1866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602FCAD-E4D5-44C8-BACA-D4A028850678}"/>
              </a:ext>
            </a:extLst>
          </p:cNvPr>
          <p:cNvSpPr>
            <a:spLocks noGrp="1"/>
          </p:cNvSpPr>
          <p:nvPr/>
        </p:nvSpPr>
        <p:spPr>
          <a:xfrm>
            <a:off x="2943225" y="4572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2C56865-2E92-4111-85E3-FD4026EBB623}"/>
              </a:ext>
            </a:extLst>
          </p:cNvPr>
          <p:cNvSpPr>
            <a:spLocks noGrp="1"/>
          </p:cNvSpPr>
          <p:nvPr/>
        </p:nvSpPr>
        <p:spPr>
          <a:xfrm>
            <a:off x="5010150" y="4505325"/>
            <a:ext cx="1866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722716-AB81-4EDE-9841-57E4EB87EEA5}"/>
              </a:ext>
            </a:extLst>
          </p:cNvPr>
          <p:cNvSpPr>
            <a:spLocks noGrp="1"/>
          </p:cNvSpPr>
          <p:nvPr/>
        </p:nvSpPr>
        <p:spPr>
          <a:xfrm>
            <a:off x="5086350" y="4572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Transformers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DBA89F1-CD22-4DFB-BC60-2B19AF25E3F1}"/>
              </a:ext>
            </a:extLst>
          </p:cNvPr>
          <p:cNvSpPr>
            <a:spLocks noGrp="1"/>
          </p:cNvSpPr>
          <p:nvPr/>
        </p:nvSpPr>
        <p:spPr>
          <a:xfrm>
            <a:off x="7153275" y="4505325"/>
            <a:ext cx="1866900" cy="361950"/>
          </a:xfrm>
          <a:prstGeom prst="rect">
            <a:avLst/>
          </a:prstGeom>
          <a:solidFill>
            <a:srgbClr val="F5C400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4C99FF-B077-4B33-9552-BFA9DF40B9FC}"/>
              </a:ext>
            </a:extLst>
          </p:cNvPr>
          <p:cNvSpPr>
            <a:spLocks noGrp="1"/>
          </p:cNvSpPr>
          <p:nvPr/>
        </p:nvSpPr>
        <p:spPr>
          <a:xfrm>
            <a:off x="7229475" y="4572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MacBERT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5F396C-F14A-434E-9B1B-FF8979BE9BEF}"/>
              </a:ext>
            </a:extLst>
          </p:cNvPr>
          <p:cNvSpPr>
            <a:spLocks noGrp="1"/>
          </p:cNvSpPr>
          <p:nvPr/>
        </p:nvSpPr>
        <p:spPr>
          <a:xfrm>
            <a:off x="9296400" y="4505325"/>
            <a:ext cx="1866900" cy="361950"/>
          </a:xfrm>
          <a:prstGeom prst="rect">
            <a:avLst/>
          </a:prstGeom>
          <a:solidFill>
            <a:srgbClr val="F5C400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560680-5A2E-4A1E-864C-C9127DBED0FC}"/>
              </a:ext>
            </a:extLst>
          </p:cNvPr>
          <p:cNvSpPr>
            <a:spLocks noGrp="1"/>
          </p:cNvSpPr>
          <p:nvPr/>
        </p:nvSpPr>
        <p:spPr>
          <a:xfrm>
            <a:off x="9372600" y="4572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PaddleOCR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6D53F68-8F3E-4B8E-95F7-597C1DF2C3FE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1866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918023-20EF-456A-A248-A24F5EF21FF2}"/>
              </a:ext>
            </a:extLst>
          </p:cNvPr>
          <p:cNvSpPr>
            <a:spLocks noGrp="1"/>
          </p:cNvSpPr>
          <p:nvPr/>
        </p:nvSpPr>
        <p:spPr>
          <a:xfrm>
            <a:off x="800100" y="50768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OpenCV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59A2AFD-17F9-4653-9B32-AA3B8DCEF070}"/>
              </a:ext>
            </a:extLst>
          </p:cNvPr>
          <p:cNvSpPr>
            <a:spLocks noGrp="1"/>
          </p:cNvSpPr>
          <p:nvPr/>
        </p:nvSpPr>
        <p:spPr>
          <a:xfrm>
            <a:off x="2867025" y="5010150"/>
            <a:ext cx="1866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18E534-440C-41C4-AED3-D8BAE464264D}"/>
              </a:ext>
            </a:extLst>
          </p:cNvPr>
          <p:cNvSpPr>
            <a:spLocks noGrp="1"/>
          </p:cNvSpPr>
          <p:nvPr/>
        </p:nvSpPr>
        <p:spPr>
          <a:xfrm>
            <a:off x="2943225" y="50768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Pillow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51BE222-55AB-4D23-ACBD-C4733A3EB1EB}"/>
              </a:ext>
            </a:extLst>
          </p:cNvPr>
          <p:cNvSpPr>
            <a:spLocks noGrp="1"/>
          </p:cNvSpPr>
          <p:nvPr/>
        </p:nvSpPr>
        <p:spPr>
          <a:xfrm>
            <a:off x="5010150" y="5010150"/>
            <a:ext cx="1866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9FAA1B4-6D7E-4E52-A01B-A1C731220C12}"/>
              </a:ext>
            </a:extLst>
          </p:cNvPr>
          <p:cNvSpPr>
            <a:spLocks noGrp="1"/>
          </p:cNvSpPr>
          <p:nvPr/>
        </p:nvSpPr>
        <p:spPr>
          <a:xfrm>
            <a:off x="5086350" y="50768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Gradio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4B569AE-2416-4AF7-874B-FE2AFAD9E72C}"/>
              </a:ext>
            </a:extLst>
          </p:cNvPr>
          <p:cNvSpPr>
            <a:spLocks noGrp="1"/>
          </p:cNvSpPr>
          <p:nvPr/>
        </p:nvSpPr>
        <p:spPr>
          <a:xfrm>
            <a:off x="7153275" y="5010150"/>
            <a:ext cx="1866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A62667-C88C-4064-8FF9-05E8CCB913C9}"/>
              </a:ext>
            </a:extLst>
          </p:cNvPr>
          <p:cNvSpPr>
            <a:spLocks noGrp="1"/>
          </p:cNvSpPr>
          <p:nvPr/>
        </p:nvSpPr>
        <p:spPr>
          <a:xfrm>
            <a:off x="7229475" y="50768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FD74151-3B59-4A61-8430-CF6E232489C0}"/>
              </a:ext>
            </a:extLst>
          </p:cNvPr>
          <p:cNvSpPr>
            <a:spLocks noGrp="1"/>
          </p:cNvSpPr>
          <p:nvPr/>
        </p:nvSpPr>
        <p:spPr>
          <a:xfrm>
            <a:off x="9296400" y="5010150"/>
            <a:ext cx="1866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3DEFE01-88B0-4158-80DD-DCD3FD9EEC47}"/>
              </a:ext>
            </a:extLst>
          </p:cNvPr>
          <p:cNvSpPr>
            <a:spLocks noGrp="1"/>
          </p:cNvSpPr>
          <p:nvPr/>
        </p:nvSpPr>
        <p:spPr>
          <a:xfrm>
            <a:off x="9372600" y="50768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pytest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BDA0D1-B185-4772-A8A0-EEF183288F21}"/>
              </a:ext>
            </a:extLst>
          </p:cNvPr>
          <p:cNvSpPr>
            <a:spLocks noGrp="1"/>
          </p:cNvSpPr>
          <p:nvPr/>
        </p:nvSpPr>
        <p:spPr>
          <a:xfrm>
            <a:off x="533400" y="59150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设计原则：规则追求可解释，模型负责语义泛化，坐标模块承担安全边界。</a:t>
            </a:r>
          </a:p>
        </p:txBody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1EA4E98C-E675-47D7-B1EB-09880541A7C9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39B512E-0919-4359-9B28-441C7D361880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技术栈来自当前 requirements 与运行环境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422E25-9EFB-473E-AC70-F8391DDFE070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1187790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006CEF8-A317-4106-97D1-67037A1D58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29BDD0-6A38-45B4-BB63-CF50FB293F46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3AADA2-C524-4D30-922D-2A7736235D50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两类数据回答两个不同问题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0ED71A-6392-4055-B21C-A0C3103570E0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D1A8A4-E0EA-4B71-B191-A40C1AD27BE9}"/>
              </a:ext>
            </a:extLst>
          </p:cNvPr>
          <p:cNvSpPr>
            <a:spLocks noGrp="1"/>
          </p:cNvSpPr>
          <p:nvPr/>
        </p:nvSpPr>
        <p:spPr>
          <a:xfrm>
            <a:off x="533400" y="1323975"/>
            <a:ext cx="5191125" cy="3286125"/>
          </a:xfrm>
          <a:prstGeom prst="rect">
            <a:avLst/>
          </a:prstGeom>
          <a:solidFill>
            <a:srgbClr val="FFFFFF"/>
          </a:solidFill>
          <a:ln w="9525">
            <a:solidFill>
              <a:srgbClr val="D6D7D2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BD79EC-E4BC-48B7-99E2-34F22E44FF6C}"/>
              </a:ext>
            </a:extLst>
          </p:cNvPr>
          <p:cNvSpPr>
            <a:spLocks noGrp="1"/>
          </p:cNvSpPr>
          <p:nvPr/>
        </p:nvSpPr>
        <p:spPr>
          <a:xfrm>
            <a:off x="533400" y="1323975"/>
            <a:ext cx="5191125" cy="85725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3DE903-886E-4A50-A568-0D58ADD78B3F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5679"/>
          </a:bodyPr>
          <a:lstStyle/>
          <a:p>
            <a:pPr algn="l">
              <a:defRPr sz="20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文本 NER 数据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BEAF7A-40DC-4B23-84CD-B1C2C92D84F7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PII Bench ZH + 扩充 formal/chat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AEDC9D-D030-408D-B3FB-89F95D153A98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2095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7D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9CA554-0CDF-445E-A0F6-107F74F7BC2E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66675" cy="11239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AF9B02-3708-4ED3-B59A-1448DCEF7E73}"/>
              </a:ext>
            </a:extLst>
          </p:cNvPr>
          <p:cNvSpPr>
            <a:spLocks noGrp="1"/>
          </p:cNvSpPr>
          <p:nvPr/>
        </p:nvSpPr>
        <p:spPr>
          <a:xfrm>
            <a:off x="971550" y="26955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TEXT RECORDS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F8DC3F-5BF8-4BAD-A622-C67E9F55B60F}"/>
              </a:ext>
            </a:extLst>
          </p:cNvPr>
          <p:cNvSpPr>
            <a:spLocks noGrp="1"/>
          </p:cNvSpPr>
          <p:nvPr/>
        </p:nvSpPr>
        <p:spPr>
          <a:xfrm>
            <a:off x="971550" y="2933700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40,000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A1F4BB-AA10-466B-8387-730A9066262C}"/>
              </a:ext>
            </a:extLst>
          </p:cNvPr>
          <p:cNvSpPr>
            <a:spLocks noGrp="1"/>
          </p:cNvSpPr>
          <p:nvPr/>
        </p:nvSpPr>
        <p:spPr>
          <a:xfrm>
            <a:off x="971550" y="340042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统一 JSONL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84BCE9-565D-4CE8-B8E4-C4146F4331DD}"/>
              </a:ext>
            </a:extLst>
          </p:cNvPr>
          <p:cNvSpPr>
            <a:spLocks noGrp="1"/>
          </p:cNvSpPr>
          <p:nvPr/>
        </p:nvSpPr>
        <p:spPr>
          <a:xfrm>
            <a:off x="3133725" y="2695575"/>
            <a:ext cx="2143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训练目标</a:t>
            </a:r>
          </a:p>
          <a:p>
            <a:pPr algn="l">
              <a:defRPr sz="13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姓名 / 地址等 BIO 序列标注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2A9B9A-A42E-4A64-812B-42D8C7A12F3E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输出：train / validation / test_fixed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719D33-DEA4-44A9-9EAF-A4D3AA96C0BE}"/>
              </a:ext>
            </a:extLst>
          </p:cNvPr>
          <p:cNvSpPr>
            <a:spLocks noGrp="1"/>
          </p:cNvSpPr>
          <p:nvPr/>
        </p:nvSpPr>
        <p:spPr>
          <a:xfrm>
            <a:off x="5934075" y="1323975"/>
            <a:ext cx="5724525" cy="3286125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7ACF24-2F4F-48AB-92DD-ED44E921D8B4}"/>
              </a:ext>
            </a:extLst>
          </p:cNvPr>
          <p:cNvSpPr>
            <a:spLocks noGrp="1"/>
          </p:cNvSpPr>
          <p:nvPr/>
        </p:nvSpPr>
        <p:spPr>
          <a:xfrm>
            <a:off x="5934075" y="1323975"/>
            <a:ext cx="5724525" cy="85725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B78FA3-A0DA-4835-9474-89EC8C4D8EFE}"/>
              </a:ext>
            </a:extLst>
          </p:cNvPr>
          <p:cNvSpPr>
            <a:spLocks noGrp="1"/>
          </p:cNvSpPr>
          <p:nvPr/>
        </p:nvSpPr>
        <p:spPr>
          <a:xfrm>
            <a:off x="6181725" y="1619250"/>
            <a:ext cx="304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5679"/>
          </a:bodyPr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图片框标注数据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A5C484-11D6-4AD2-A2D2-55DE7144B195}"/>
              </a:ext>
            </a:extLst>
          </p:cNvPr>
          <p:cNvSpPr>
            <a:spLocks noGrp="1"/>
          </p:cNvSpPr>
          <p:nvPr/>
        </p:nvSpPr>
        <p:spPr>
          <a:xfrm>
            <a:off x="6181725" y="20574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OCR / 坐标映射 / 遮挡覆盖评估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5BEACF-25B5-4D0C-9250-5C78FB2EC423}"/>
              </a:ext>
            </a:extLst>
          </p:cNvPr>
          <p:cNvSpPr>
            <a:spLocks noGrp="1"/>
          </p:cNvSpPr>
          <p:nvPr/>
        </p:nvSpPr>
        <p:spPr>
          <a:xfrm>
            <a:off x="6181725" y="2562225"/>
            <a:ext cx="2095500" cy="11239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11AC5A-CD7B-436E-89C0-FC086082816E}"/>
              </a:ext>
            </a:extLst>
          </p:cNvPr>
          <p:cNvSpPr>
            <a:spLocks noGrp="1"/>
          </p:cNvSpPr>
          <p:nvPr/>
        </p:nvSpPr>
        <p:spPr>
          <a:xfrm>
            <a:off x="6181725" y="2562225"/>
            <a:ext cx="66675" cy="11239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DCF27A-283A-4780-A8B5-B72B5BF4B4D0}"/>
              </a:ext>
            </a:extLst>
          </p:cNvPr>
          <p:cNvSpPr>
            <a:spLocks noGrp="1"/>
          </p:cNvSpPr>
          <p:nvPr/>
        </p:nvSpPr>
        <p:spPr>
          <a:xfrm>
            <a:off x="6372225" y="26955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SYNTHETIC IMAGES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FBC1FB3-B2E4-4BEE-BDC7-9CFCC35E309A}"/>
              </a:ext>
            </a:extLst>
          </p:cNvPr>
          <p:cNvSpPr>
            <a:spLocks noGrp="1"/>
          </p:cNvSpPr>
          <p:nvPr/>
        </p:nvSpPr>
        <p:spPr>
          <a:xfrm>
            <a:off x="6372225" y="2933700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2DF6CA-21C9-42C5-BAAF-7ECA79AD1556}"/>
              </a:ext>
            </a:extLst>
          </p:cNvPr>
          <p:cNvSpPr>
            <a:spLocks noGrp="1"/>
          </p:cNvSpPr>
          <p:nvPr/>
        </p:nvSpPr>
        <p:spPr>
          <a:xfrm>
            <a:off x="6372225" y="340042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6 种模板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76C364-C5EC-4ACA-B49C-5EAF0F13106B}"/>
              </a:ext>
            </a:extLst>
          </p:cNvPr>
          <p:cNvSpPr>
            <a:spLocks noGrp="1"/>
          </p:cNvSpPr>
          <p:nvPr/>
        </p:nvSpPr>
        <p:spPr>
          <a:xfrm>
            <a:off x="8467725" y="2562225"/>
            <a:ext cx="2095500" cy="11239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6DEDF2-262E-4B80-A4E9-BA18FADC9A8B}"/>
              </a:ext>
            </a:extLst>
          </p:cNvPr>
          <p:cNvSpPr>
            <a:spLocks noGrp="1"/>
          </p:cNvSpPr>
          <p:nvPr/>
        </p:nvSpPr>
        <p:spPr>
          <a:xfrm>
            <a:off x="8467725" y="2562225"/>
            <a:ext cx="66675" cy="1123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639EEB-2E8E-48E6-92B3-7F072A42CBD1}"/>
              </a:ext>
            </a:extLst>
          </p:cNvPr>
          <p:cNvSpPr>
            <a:spLocks noGrp="1"/>
          </p:cNvSpPr>
          <p:nvPr/>
        </p:nvSpPr>
        <p:spPr>
          <a:xfrm>
            <a:off x="8658225" y="26955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FIXED IMAGE TEST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3CBE19-BD28-4ABB-B487-F52DA858682E}"/>
              </a:ext>
            </a:extLst>
          </p:cNvPr>
          <p:cNvSpPr>
            <a:spLocks noGrp="1"/>
          </p:cNvSpPr>
          <p:nvPr/>
        </p:nvSpPr>
        <p:spPr>
          <a:xfrm>
            <a:off x="8658225" y="2933700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BA5646-D118-482C-964A-F1EC4A345E98}"/>
              </a:ext>
            </a:extLst>
          </p:cNvPr>
          <p:cNvSpPr>
            <a:spLocks noGrp="1"/>
          </p:cNvSpPr>
          <p:nvPr/>
        </p:nvSpPr>
        <p:spPr>
          <a:xfrm>
            <a:off x="8658225" y="340042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冻结基线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A1A0E9E-21A4-4645-A75E-4598E2420D43}"/>
              </a:ext>
            </a:extLst>
          </p:cNvPr>
          <p:cNvSpPr>
            <a:spLocks noGrp="1"/>
          </p:cNvSpPr>
          <p:nvPr/>
        </p:nvSpPr>
        <p:spPr>
          <a:xfrm>
            <a:off x="6181725" y="40100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人工框选流程：Label Studio 导出 → 转换为项目 JSONL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56A9C8-CEEC-4C84-95BC-CAAAA52A998F}"/>
              </a:ext>
            </a:extLst>
          </p:cNvPr>
          <p:cNvSpPr>
            <a:spLocks noGrp="1"/>
          </p:cNvSpPr>
          <p:nvPr/>
        </p:nvSpPr>
        <p:spPr>
          <a:xfrm>
            <a:off x="533400" y="49053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严格分离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692414-0B4F-4671-B143-48D2D1F1A32C}"/>
              </a:ext>
            </a:extLst>
          </p:cNvPr>
          <p:cNvSpPr>
            <a:spLocks noGrp="1"/>
          </p:cNvSpPr>
          <p:nvPr/>
        </p:nvSpPr>
        <p:spPr>
          <a:xfrm>
            <a:off x="2143125" y="4895850"/>
            <a:ext cx="6449473" cy="41910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37DF8E-E00D-4A39-A0C9-E0C684A7353E}"/>
              </a:ext>
            </a:extLst>
          </p:cNvPr>
          <p:cNvSpPr>
            <a:spLocks noGrp="1"/>
          </p:cNvSpPr>
          <p:nvPr/>
        </p:nvSpPr>
        <p:spPr>
          <a:xfrm>
            <a:off x="8592598" y="4895850"/>
            <a:ext cx="815495" cy="41910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20470D-206F-423B-A8B8-C878A237689C}"/>
              </a:ext>
            </a:extLst>
          </p:cNvPr>
          <p:cNvSpPr>
            <a:spLocks noGrp="1"/>
          </p:cNvSpPr>
          <p:nvPr/>
        </p:nvSpPr>
        <p:spPr>
          <a:xfrm>
            <a:off x="9408093" y="4895850"/>
            <a:ext cx="831282" cy="419100"/>
          </a:xfrm>
          <a:prstGeom prst="rect">
            <a:avLst/>
          </a:prstGeom>
          <a:solidFill>
            <a:srgbClr val="8A8D91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31C4DF9-07D3-48A5-A749-CA4168539731}"/>
              </a:ext>
            </a:extLst>
          </p:cNvPr>
          <p:cNvSpPr>
            <a:spLocks noGrp="1"/>
          </p:cNvSpPr>
          <p:nvPr/>
        </p:nvSpPr>
        <p:spPr>
          <a:xfrm>
            <a:off x="2266950" y="4991100"/>
            <a:ext cx="625897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TRAIN 31,864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6BFF71B-399B-4740-8E45-FBEADB1EF958}"/>
              </a:ext>
            </a:extLst>
          </p:cNvPr>
          <p:cNvSpPr>
            <a:spLocks noGrp="1"/>
          </p:cNvSpPr>
          <p:nvPr/>
        </p:nvSpPr>
        <p:spPr>
          <a:xfrm>
            <a:off x="8592598" y="4991100"/>
            <a:ext cx="81549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VAL 4,029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10F5C62-35CC-46B2-9DA7-6E47A90935D3}"/>
              </a:ext>
            </a:extLst>
          </p:cNvPr>
          <p:cNvSpPr>
            <a:spLocks noGrp="1"/>
          </p:cNvSpPr>
          <p:nvPr/>
        </p:nvSpPr>
        <p:spPr>
          <a:xfrm>
            <a:off x="9408093" y="4991100"/>
            <a:ext cx="8312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TEST 4,107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71F923-1155-49D0-BACF-BD21C588A074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5143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8442F19-0544-4365-B81A-5EF164DAF5B3}"/>
              </a:ext>
            </a:extLst>
          </p:cNvPr>
          <p:cNvSpPr>
            <a:spLocks noGrp="1"/>
          </p:cNvSpPr>
          <p:nvPr/>
        </p:nvSpPr>
        <p:spPr>
          <a:xfrm>
            <a:off x="723900" y="5686425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4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同一原图及旋转 / 裁剪变体不得跨集合；机器预标注与人工真值必须分开。</a:t>
            </a:r>
          </a:p>
        </p:txBody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DF05EF4F-EA8A-4D3F-866C-756E4AB3C883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D6D7D2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ABA1D8A-5751-4C1B-82C8-F3707FFB215F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来源：reports/processed_dataset_summary.json · reports/generated_image_summary.json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35F21BD-27CD-414E-AEFF-836061309299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1996772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1AC51A62-7514-4A79-9C36-8A5C9E41C6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87474A-80C9-4E25-894F-DB37E066D639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49EAA7-70C1-4595-AE32-F2CCBCDC874C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标注契约决定训练和评测是否可信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BF1C1B-4F5D-4001-8A1A-F67D28E52D40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745C58-5BC3-4B4D-A67D-5DE81A7D7D16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TEXT / NER JSONL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77E57D-6B42-4ED2-BCBD-2AABE0E083F9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5314950" cy="25908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BCB746-EF51-42E3-A45E-AC51C358344E}"/>
              </a:ext>
            </a:extLst>
          </p:cNvPr>
          <p:cNvSpPr>
            <a:spLocks noGrp="1"/>
          </p:cNvSpPr>
          <p:nvPr/>
        </p:nvSpPr>
        <p:spPr>
          <a:xfrm>
            <a:off x="742950" y="1857375"/>
            <a:ext cx="48958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"id": "sample_0001",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"text": "联系人张三，电话13800138000",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"entities": [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{"type":"person","start":3,"end":5},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{"type":"phone","start":8,"end":19}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]</a:t>
            </a:r>
          </a:p>
          <a:p>
            <a:pPr algn="l"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2BEB18-5944-44B7-8196-7EDCF7CD8810}"/>
              </a:ext>
            </a:extLst>
          </p:cNvPr>
          <p:cNvSpPr>
            <a:spLocks noGrp="1"/>
          </p:cNvSpPr>
          <p:nvPr/>
        </p:nvSpPr>
        <p:spPr>
          <a:xfrm>
            <a:off x="695325" y="39433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0-based 半开区间：text[start:end] == entity.text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CF7BE-B781-4A3D-8CDF-9B68A1AFD9D5}"/>
              </a:ext>
            </a:extLst>
          </p:cNvPr>
          <p:cNvSpPr>
            <a:spLocks noGrp="1"/>
          </p:cNvSpPr>
          <p:nvPr/>
        </p:nvSpPr>
        <p:spPr>
          <a:xfrm>
            <a:off x="6343650" y="13525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IMAGE / BOX JSONL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A5C857-029A-4497-9C33-A0986B86A072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5314950" cy="2590800"/>
          </a:xfrm>
          <a:prstGeom prst="rect">
            <a:avLst/>
          </a:prstGeom>
          <a:solidFill>
            <a:srgbClr val="F4F4F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C3534B-6F1A-4411-8135-30E78322216A}"/>
              </a:ext>
            </a:extLst>
          </p:cNvPr>
          <p:cNvSpPr>
            <a:spLocks noGrp="1"/>
          </p:cNvSpPr>
          <p:nvPr/>
        </p:nvSpPr>
        <p:spPr>
          <a:xfrm>
            <a:off x="6553200" y="1857375"/>
            <a:ext cx="48958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  "image_path": "data/images/sample.png",</a:t>
            </a:r>
          </a:p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  "entities": [{</a:t>
            </a:r>
          </a:p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    "type": "address",</a:t>
            </a:r>
          </a:p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    "text": "北京市朝阳区...",</a:t>
            </a:r>
          </a:p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    "boxes": [[40,60,340,108],</a:t>
            </a:r>
          </a:p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              [40,112,190,160]]</a:t>
            </a:r>
          </a:p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  }]</a:t>
            </a:r>
          </a:p>
          <a:p>
            <a:pPr algn="l">
              <a:defRPr sz="1200" b="0">
                <a:solidFill>
                  <a:srgbClr val="0C0D0E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C0D0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08E490-0C7B-420E-9CEC-6DBD50F6C741}"/>
              </a:ext>
            </a:extLst>
          </p:cNvPr>
          <p:cNvSpPr>
            <a:spLocks noGrp="1"/>
          </p:cNvSpPr>
          <p:nvPr/>
        </p:nvSpPr>
        <p:spPr>
          <a:xfrm>
            <a:off x="6505575" y="394335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跨行实体：一个实体，多框表达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905B71-1FE2-43D9-A73E-D6D04F13D082}"/>
              </a:ext>
            </a:extLst>
          </p:cNvPr>
          <p:cNvSpPr>
            <a:spLocks noGrp="1"/>
          </p:cNvSpPr>
          <p:nvPr/>
        </p:nvSpPr>
        <p:spPr>
          <a:xfrm>
            <a:off x="533400" y="4695825"/>
            <a:ext cx="2514600" cy="10858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8C277C-95AD-42CD-9EBC-A68D77F7F3D1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整体实体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5A50C4-DF6F-4039-940D-F2778A5AF747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手机号 11 位整体标注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1E26E7-A7E3-4C66-BD87-6E322219A049}"/>
              </a:ext>
            </a:extLst>
          </p:cNvPr>
          <p:cNvSpPr>
            <a:spLocks noGrp="1"/>
          </p:cNvSpPr>
          <p:nvPr/>
        </p:nvSpPr>
        <p:spPr>
          <a:xfrm>
            <a:off x="3314700" y="4695825"/>
            <a:ext cx="2514600" cy="10858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DA3B37-8E18-45E8-9AAD-34707EFB9997}"/>
              </a:ext>
            </a:extLst>
          </p:cNvPr>
          <p:cNvSpPr>
            <a:spLocks noGrp="1"/>
          </p:cNvSpPr>
          <p:nvPr/>
        </p:nvSpPr>
        <p:spPr>
          <a:xfrm>
            <a:off x="3467100" y="48577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跨行地址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DA5ACA-88BF-4062-909A-A73C9F644AB7}"/>
              </a:ext>
            </a:extLst>
          </p:cNvPr>
          <p:cNvSpPr>
            <a:spLocks noGrp="1"/>
          </p:cNvSpPr>
          <p:nvPr/>
        </p:nvSpPr>
        <p:spPr>
          <a:xfrm>
            <a:off x="3467100" y="52482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一个实体可包含多个 boxes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BD8473-106F-4E78-88E7-E5BCCAE68B60}"/>
              </a:ext>
            </a:extLst>
          </p:cNvPr>
          <p:cNvSpPr>
            <a:spLocks noGrp="1"/>
          </p:cNvSpPr>
          <p:nvPr/>
        </p:nvSpPr>
        <p:spPr>
          <a:xfrm>
            <a:off x="6096000" y="4695825"/>
            <a:ext cx="2514600" cy="10858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59C0D5-6AE1-42C2-BBAD-FC715F6E1DD5}"/>
              </a:ext>
            </a:extLst>
          </p:cNvPr>
          <p:cNvSpPr>
            <a:spLocks noGrp="1"/>
          </p:cNvSpPr>
          <p:nvPr/>
        </p:nvSpPr>
        <p:spPr>
          <a:xfrm>
            <a:off x="6248400" y="48577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负样本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76EBEAF-4C37-4EBF-9599-411F625293F7}"/>
              </a:ext>
            </a:extLst>
          </p:cNvPr>
          <p:cNvSpPr>
            <a:spLocks noGrp="1"/>
          </p:cNvSpPr>
          <p:nvPr/>
        </p:nvSpPr>
        <p:spPr>
          <a:xfrm>
            <a:off x="6248400" y="52482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无敏感信息图片也必须保留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A038DF-E985-48E5-BB0D-DE7C1400FD72}"/>
              </a:ext>
            </a:extLst>
          </p:cNvPr>
          <p:cNvSpPr>
            <a:spLocks noGrp="1"/>
          </p:cNvSpPr>
          <p:nvPr/>
        </p:nvSpPr>
        <p:spPr>
          <a:xfrm>
            <a:off x="8877300" y="4695825"/>
            <a:ext cx="2514600" cy="1085850"/>
          </a:xfrm>
          <a:prstGeom prst="rect">
            <a:avLst/>
          </a:prstGeom>
          <a:solidFill>
            <a:srgbClr val="F5C400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697AD2-A44B-461F-B695-DF771F1FE7E4}"/>
              </a:ext>
            </a:extLst>
          </p:cNvPr>
          <p:cNvSpPr>
            <a:spLocks noGrp="1"/>
          </p:cNvSpPr>
          <p:nvPr/>
        </p:nvSpPr>
        <p:spPr>
          <a:xfrm>
            <a:off x="9029700" y="48577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真值隔离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714F4D8-6B2C-4A70-AEFB-5B0A6C409ECD}"/>
              </a:ext>
            </a:extLst>
          </p:cNvPr>
          <p:cNvSpPr>
            <a:spLocks noGrp="1"/>
          </p:cNvSpPr>
          <p:nvPr/>
        </p:nvSpPr>
        <p:spPr>
          <a:xfrm>
            <a:off x="9029700" y="52482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pseudo_label ≠ human truth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4FEC0197-8547-44CD-8717-713A06CB37EC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0EFB02-31C0-45A0-ABAA-67F4EEBC43EA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详细 schema：docs/dataset_input_guide.md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FFC406-1209-4468-B6BD-E84C797054C9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839641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C4CA29F4-A090-4AAF-9602-38A23165B2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57F6D3-F22D-4458-B31B-F4B774499F53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A0918F-9B28-453E-A22C-6E955F4B6D3E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MacBERT 训练形成可复现的最佳模型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69F897-3F61-478A-903A-FDE5FE6E6907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094755-D1CB-4858-93BE-A97257DCF6A4}"/>
              </a:ext>
            </a:extLst>
          </p:cNvPr>
          <p:cNvSpPr>
            <a:spLocks noGrp="1"/>
          </p:cNvSpPr>
          <p:nvPr/>
        </p:nvSpPr>
        <p:spPr>
          <a:xfrm>
            <a:off x="533400" y="1323975"/>
            <a:ext cx="1524000" cy="51435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FA9D20-0ED5-4F02-990E-1541B51734E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数据检查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5FA8C6-86D5-4971-826B-D70AA5DED8F5}"/>
              </a:ext>
            </a:extLst>
          </p:cNvPr>
          <p:cNvSpPr>
            <a:spLocks noGrp="1"/>
          </p:cNvSpPr>
          <p:nvPr/>
        </p:nvSpPr>
        <p:spPr>
          <a:xfrm>
            <a:off x="2057400" y="14192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6843" lnSpcReduction="10000"/>
          </a:bodyPr>
          <a:lstStyle/>
          <a:p>
            <a:pPr algn="ctr">
              <a:def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BC6BD4-9198-4757-A7B0-923A534A83CB}"/>
              </a:ext>
            </a:extLst>
          </p:cNvPr>
          <p:cNvSpPr>
            <a:spLocks noGrp="1"/>
          </p:cNvSpPr>
          <p:nvPr/>
        </p:nvSpPr>
        <p:spPr>
          <a:xfrm>
            <a:off x="2286000" y="1323975"/>
            <a:ext cx="1524000" cy="51435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833A89-D74A-46BC-9167-DE7E0FBF72FC}"/>
              </a:ext>
            </a:extLst>
          </p:cNvPr>
          <p:cNvSpPr>
            <a:spLocks noGrp="1"/>
          </p:cNvSpPr>
          <p:nvPr/>
        </p:nvSpPr>
        <p:spPr>
          <a:xfrm>
            <a:off x="2362200" y="14668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BIO 转换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F95FD5-1EEF-457A-A414-B29D2A1C74EC}"/>
              </a:ext>
            </a:extLst>
          </p:cNvPr>
          <p:cNvSpPr>
            <a:spLocks noGrp="1"/>
          </p:cNvSpPr>
          <p:nvPr/>
        </p:nvSpPr>
        <p:spPr>
          <a:xfrm>
            <a:off x="3810000" y="14192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6843" lnSpcReduction="10000"/>
          </a:bodyPr>
          <a:lstStyle/>
          <a:p>
            <a:pPr algn="ctr">
              <a:def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2B0467-3004-47BA-94E1-6A5167A490D9}"/>
              </a:ext>
            </a:extLst>
          </p:cNvPr>
          <p:cNvSpPr>
            <a:spLocks noGrp="1"/>
          </p:cNvSpPr>
          <p:nvPr/>
        </p:nvSpPr>
        <p:spPr>
          <a:xfrm>
            <a:off x="4038600" y="1323975"/>
            <a:ext cx="1524000" cy="51435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77938C-3CA7-4BAE-9E83-8787D7D96BFC}"/>
              </a:ext>
            </a:extLst>
          </p:cNvPr>
          <p:cNvSpPr>
            <a:spLocks noGrp="1"/>
          </p:cNvSpPr>
          <p:nvPr/>
        </p:nvSpPr>
        <p:spPr>
          <a:xfrm>
            <a:off x="4114800" y="14668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Token 对齐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FFDBC7-E727-4248-8A15-B98FD1DF95C8}"/>
              </a:ext>
            </a:extLst>
          </p:cNvPr>
          <p:cNvSpPr>
            <a:spLocks noGrp="1"/>
          </p:cNvSpPr>
          <p:nvPr/>
        </p:nvSpPr>
        <p:spPr>
          <a:xfrm>
            <a:off x="5562600" y="14192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6843" lnSpcReduction="10000"/>
          </a:bodyPr>
          <a:lstStyle/>
          <a:p>
            <a:pPr algn="ctr">
              <a:def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2E6A7F-7095-4F33-AB5A-F33112FD8305}"/>
              </a:ext>
            </a:extLst>
          </p:cNvPr>
          <p:cNvSpPr>
            <a:spLocks noGrp="1"/>
          </p:cNvSpPr>
          <p:nvPr/>
        </p:nvSpPr>
        <p:spPr>
          <a:xfrm>
            <a:off x="5791200" y="1323975"/>
            <a:ext cx="1524000" cy="5143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138465-F3B2-4261-A83D-E1FDB0FD4F15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CUDA 训练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844E11-775E-4B62-B9C1-9742C6FCCD4F}"/>
              </a:ext>
            </a:extLst>
          </p:cNvPr>
          <p:cNvSpPr>
            <a:spLocks noGrp="1"/>
          </p:cNvSpPr>
          <p:nvPr/>
        </p:nvSpPr>
        <p:spPr>
          <a:xfrm>
            <a:off x="7315200" y="14192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6843" lnSpcReduction="10000"/>
          </a:bodyPr>
          <a:lstStyle/>
          <a:p>
            <a:pPr algn="ctr">
              <a:def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C74839-7296-454E-8E96-F0D593576BD4}"/>
              </a:ext>
            </a:extLst>
          </p:cNvPr>
          <p:cNvSpPr>
            <a:spLocks noGrp="1"/>
          </p:cNvSpPr>
          <p:nvPr/>
        </p:nvSpPr>
        <p:spPr>
          <a:xfrm>
            <a:off x="7543800" y="1323975"/>
            <a:ext cx="1524000" cy="51435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2651E7-5C69-48EB-8194-2DE245A3FBC1}"/>
              </a:ext>
            </a:extLst>
          </p:cNvPr>
          <p:cNvSpPr>
            <a:spLocks noGrp="1"/>
          </p:cNvSpPr>
          <p:nvPr/>
        </p:nvSpPr>
        <p:spPr>
          <a:xfrm>
            <a:off x="7620000" y="14668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验证选优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98F969-F45B-4ED3-8226-34193789B13A}"/>
              </a:ext>
            </a:extLst>
          </p:cNvPr>
          <p:cNvSpPr>
            <a:spLocks noGrp="1"/>
          </p:cNvSpPr>
          <p:nvPr/>
        </p:nvSpPr>
        <p:spPr>
          <a:xfrm>
            <a:off x="9067800" y="14192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6843" lnSpcReduction="10000"/>
          </a:bodyPr>
          <a:lstStyle/>
          <a:p>
            <a:pPr algn="ctr">
              <a:def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AA505D-E959-4F1F-A05B-21216FB56B55}"/>
              </a:ext>
            </a:extLst>
          </p:cNvPr>
          <p:cNvSpPr>
            <a:spLocks noGrp="1"/>
          </p:cNvSpPr>
          <p:nvPr/>
        </p:nvSpPr>
        <p:spPr>
          <a:xfrm>
            <a:off x="9296400" y="1323975"/>
            <a:ext cx="1524000" cy="51435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709544C-6942-4DE6-9630-6687FDBFBF10}"/>
              </a:ext>
            </a:extLst>
          </p:cNvPr>
          <p:cNvSpPr>
            <a:spLocks noGrp="1"/>
          </p:cNvSpPr>
          <p:nvPr/>
        </p:nvSpPr>
        <p:spPr>
          <a:xfrm>
            <a:off x="9372600" y="14668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固定集测试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2F466E-9228-4523-8154-BE92E89562C9}"/>
              </a:ext>
            </a:extLst>
          </p:cNvPr>
          <p:cNvSpPr>
            <a:spLocks noGrp="1"/>
          </p:cNvSpPr>
          <p:nvPr/>
        </p:nvSpPr>
        <p:spPr>
          <a:xfrm>
            <a:off x="533400" y="2181225"/>
            <a:ext cx="3676650" cy="3267075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739300-C814-45BE-BCB9-F3A1BAEAC5B3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TRAIN CONFIG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488BFF-B597-4831-87D0-67AFA9F27966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8D8C5B-22C2-4792-A79C-49B8319234C6}"/>
              </a:ext>
            </a:extLst>
          </p:cNvPr>
          <p:cNvSpPr>
            <a:spLocks noGrp="1"/>
          </p:cNvSpPr>
          <p:nvPr/>
        </p:nvSpPr>
        <p:spPr>
          <a:xfrm>
            <a:off x="2152650" y="27813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3750"/>
          </a:bodyPr>
          <a:lstStyle/>
          <a:p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MacBERT-base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0B5B4F73-0E81-4671-BDA4-72F966B07ADD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3152775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B09A7E-70A3-42D4-8382-58CD16BE6418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MAX LENGTH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F96D48-A779-4A1A-9460-2ACEC111B6AD}"/>
              </a:ext>
            </a:extLst>
          </p:cNvPr>
          <p:cNvSpPr>
            <a:spLocks noGrp="1"/>
          </p:cNvSpPr>
          <p:nvPr/>
        </p:nvSpPr>
        <p:spPr>
          <a:xfrm>
            <a:off x="2152650" y="31242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3750"/>
          </a:bodyPr>
          <a:lstStyle/>
          <a:p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53290606-3FC5-42D5-AAD0-2BAD134ED45A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3152775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F92CF06-8C08-4325-BC09-87B96D7215E2}"/>
              </a:ext>
            </a:extLst>
          </p:cNvPr>
          <p:cNvSpPr>
            <a:spLocks noGrp="1"/>
          </p:cNvSpPr>
          <p:nvPr/>
        </p:nvSpPr>
        <p:spPr>
          <a:xfrm>
            <a:off x="762000" y="34671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LEARNING RATE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DC2F20D-67B3-489F-AA9A-432470E04415}"/>
              </a:ext>
            </a:extLst>
          </p:cNvPr>
          <p:cNvSpPr>
            <a:spLocks noGrp="1"/>
          </p:cNvSpPr>
          <p:nvPr/>
        </p:nvSpPr>
        <p:spPr>
          <a:xfrm>
            <a:off x="2152650" y="34671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3750"/>
          </a:bodyPr>
          <a:lstStyle/>
          <a:p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2e-5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C328C7A4-4560-44F3-B007-414FB5DDDCF3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152775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4BDAEA-E712-473A-9D84-C79676060F78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BATCH SIZE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528CAD7-39C2-4FF9-A256-5A24A359133C}"/>
              </a:ext>
            </a:extLst>
          </p:cNvPr>
          <p:cNvSpPr>
            <a:spLocks noGrp="1"/>
          </p:cNvSpPr>
          <p:nvPr/>
        </p:nvSpPr>
        <p:spPr>
          <a:xfrm>
            <a:off x="2152650" y="38100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3750"/>
          </a:bodyPr>
          <a:lstStyle/>
          <a:p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C7BE7153-1C88-49DC-A8DA-E092408A59F5}"/>
              </a:ext>
            </a:extLst>
          </p:cNvPr>
          <p:cNvSpPr>
            <a:spLocks noGrp="1"/>
          </p:cNvSpPr>
          <p:nvPr/>
        </p:nvSpPr>
        <p:spPr>
          <a:xfrm>
            <a:off x="762000" y="4076700"/>
            <a:ext cx="3152775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E5699DF-6D45-46D0-AE08-78A2F2E643C0}"/>
              </a:ext>
            </a:extLst>
          </p:cNvPr>
          <p:cNvSpPr>
            <a:spLocks noGrp="1"/>
          </p:cNvSpPr>
          <p:nvPr/>
        </p:nvSpPr>
        <p:spPr>
          <a:xfrm>
            <a:off x="762000" y="41529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EPOCHS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B8BB49E-6F59-4605-B239-D313A645BECA}"/>
              </a:ext>
            </a:extLst>
          </p:cNvPr>
          <p:cNvSpPr>
            <a:spLocks noGrp="1"/>
          </p:cNvSpPr>
          <p:nvPr/>
        </p:nvSpPr>
        <p:spPr>
          <a:xfrm>
            <a:off x="2152650" y="41529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3750"/>
          </a:bodyPr>
          <a:lstStyle/>
          <a:p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A7F46E79-2605-4E59-A3EB-5106C31CFA4C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3152775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4C0DA8B-5D79-4311-8A86-C182DC2C4CF4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BEST METRIC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EAEA3B1-33C4-4695-8230-CE913A125C6A}"/>
              </a:ext>
            </a:extLst>
          </p:cNvPr>
          <p:cNvSpPr>
            <a:spLocks noGrp="1"/>
          </p:cNvSpPr>
          <p:nvPr/>
        </p:nvSpPr>
        <p:spPr>
          <a:xfrm>
            <a:off x="2152650" y="44958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3750"/>
          </a:bodyPr>
          <a:lstStyle/>
          <a:p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macro_f1</a:t>
            </a:r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5CE61A65-C460-49BF-AC1A-E6308FA3BCBE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3152775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4F5A57-E8E9-4FF1-9C17-12FCE9625696}"/>
              </a:ext>
            </a:extLst>
          </p:cNvPr>
          <p:cNvSpPr>
            <a:spLocks noGrp="1"/>
          </p:cNvSpPr>
          <p:nvPr/>
        </p:nvSpPr>
        <p:spPr>
          <a:xfrm>
            <a:off x="762000" y="48387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DEVICE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7010463-3F79-4DD1-8BFD-C2EA64E5156A}"/>
              </a:ext>
            </a:extLst>
          </p:cNvPr>
          <p:cNvSpPr>
            <a:spLocks noGrp="1"/>
          </p:cNvSpPr>
          <p:nvPr/>
        </p:nvSpPr>
        <p:spPr>
          <a:xfrm>
            <a:off x="2152650" y="48387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3750"/>
          </a:bodyPr>
          <a:lstStyle/>
          <a:p>
            <a:pPr algn="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RTX 4060 / CUDA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1DA91A1-4A12-41A0-A65E-42C80B6223BE}"/>
              </a:ext>
            </a:extLst>
          </p:cNvPr>
          <p:cNvSpPr>
            <a:spLocks noGrp="1"/>
          </p:cNvSpPr>
          <p:nvPr/>
        </p:nvSpPr>
        <p:spPr>
          <a:xfrm>
            <a:off x="533400" y="5629275"/>
            <a:ext cx="3676650" cy="5143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7430F05-1A79-4F9C-9C47-9DAB13651576}"/>
              </a:ext>
            </a:extLst>
          </p:cNvPr>
          <p:cNvSpPr>
            <a:spLocks noGrp="1"/>
          </p:cNvSpPr>
          <p:nvPr/>
        </p:nvSpPr>
        <p:spPr>
          <a:xfrm>
            <a:off x="657225" y="57435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BEST EPOCH 2 · macbert_pii_v2</a:t>
            </a: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2205038"/>
            <a:ext cx="3333750" cy="1905000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53400" y="2205038"/>
            <a:ext cx="3333750" cy="1905000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56452822-1A51-48D4-A865-DBF6ABD769FF}"/>
              </a:ext>
            </a:extLst>
          </p:cNvPr>
          <p:cNvSpPr>
            <a:spLocks noGrp="1"/>
          </p:cNvSpPr>
          <p:nvPr/>
        </p:nvSpPr>
        <p:spPr>
          <a:xfrm>
            <a:off x="4572000" y="419100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75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Loss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37014BC-22CD-4A8A-9919-A6A6EDCBA9A4}"/>
              </a:ext>
            </a:extLst>
          </p:cNvPr>
          <p:cNvSpPr>
            <a:spLocks noGrp="1"/>
          </p:cNvSpPr>
          <p:nvPr/>
        </p:nvSpPr>
        <p:spPr>
          <a:xfrm>
            <a:off x="8153400" y="419100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975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Validation Macro F1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F9D91F1-807E-489C-9A5C-AD5BB13AE94B}"/>
              </a:ext>
            </a:extLst>
          </p:cNvPr>
          <p:cNvSpPr>
            <a:spLocks noGrp="1"/>
          </p:cNvSpPr>
          <p:nvPr/>
        </p:nvSpPr>
        <p:spPr>
          <a:xfrm>
            <a:off x="4572000" y="4657725"/>
            <a:ext cx="3333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7D2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3F9E357-ECA7-41A9-A612-381B404F341F}"/>
              </a:ext>
            </a:extLst>
          </p:cNvPr>
          <p:cNvSpPr>
            <a:spLocks noGrp="1"/>
          </p:cNvSpPr>
          <p:nvPr/>
        </p:nvSpPr>
        <p:spPr>
          <a:xfrm>
            <a:off x="4572000" y="4657725"/>
            <a:ext cx="66675" cy="11239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DA57EB2-1185-4EA4-941A-B1CDF56E6C6B}"/>
              </a:ext>
            </a:extLst>
          </p:cNvPr>
          <p:cNvSpPr>
            <a:spLocks noGrp="1"/>
          </p:cNvSpPr>
          <p:nvPr/>
        </p:nvSpPr>
        <p:spPr>
          <a:xfrm>
            <a:off x="4762500" y="47910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FIXED TEXT MACRO F1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89A504B-FA2C-487F-A8D8-D77DACA2CE0D}"/>
              </a:ext>
            </a:extLst>
          </p:cNvPr>
          <p:cNvSpPr>
            <a:spLocks noGrp="1"/>
          </p:cNvSpPr>
          <p:nvPr/>
        </p:nvSpPr>
        <p:spPr>
          <a:xfrm>
            <a:off x="4762500" y="5029200"/>
            <a:ext cx="304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0.999871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F8E323A-B93D-493D-BC2A-E0E993F9D38E}"/>
              </a:ext>
            </a:extLst>
          </p:cNvPr>
          <p:cNvSpPr>
            <a:spLocks noGrp="1"/>
          </p:cNvSpPr>
          <p:nvPr/>
        </p:nvSpPr>
        <p:spPr>
          <a:xfrm>
            <a:off x="4762500" y="5495925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模板化文本集，不能外推真实场景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E11DA82-C681-46BD-A01E-DC0F672EF0DD}"/>
              </a:ext>
            </a:extLst>
          </p:cNvPr>
          <p:cNvSpPr>
            <a:spLocks noGrp="1"/>
          </p:cNvSpPr>
          <p:nvPr/>
        </p:nvSpPr>
        <p:spPr>
          <a:xfrm>
            <a:off x="8153400" y="4657725"/>
            <a:ext cx="3333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7D2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6BEE8A0-07C9-4ACF-8BC3-2ADA64CF9CAC}"/>
              </a:ext>
            </a:extLst>
          </p:cNvPr>
          <p:cNvSpPr>
            <a:spLocks noGrp="1"/>
          </p:cNvSpPr>
          <p:nvPr/>
        </p:nvSpPr>
        <p:spPr>
          <a:xfrm>
            <a:off x="8153400" y="4657725"/>
            <a:ext cx="66675" cy="112395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AB41D78-8EB2-4A60-97CC-7E3D722F3231}"/>
              </a:ext>
            </a:extLst>
          </p:cNvPr>
          <p:cNvSpPr>
            <a:spLocks noGrp="1"/>
          </p:cNvSpPr>
          <p:nvPr/>
        </p:nvSpPr>
        <p:spPr>
          <a:xfrm>
            <a:off x="8343900" y="479107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TRAINING TIME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0DB6FBC-458E-4BAC-9EF6-AFF08745C894}"/>
              </a:ext>
            </a:extLst>
          </p:cNvPr>
          <p:cNvSpPr>
            <a:spLocks noGrp="1"/>
          </p:cNvSpPr>
          <p:nvPr/>
        </p:nvSpPr>
        <p:spPr>
          <a:xfrm>
            <a:off x="8343900" y="5029200"/>
            <a:ext cx="304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58m 37s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4BE368B-2BB7-4804-A61C-DFC5800AFEBC}"/>
              </a:ext>
            </a:extLst>
          </p:cNvPr>
          <p:cNvSpPr>
            <a:spLocks noGrp="1"/>
          </p:cNvSpPr>
          <p:nvPr/>
        </p:nvSpPr>
        <p:spPr>
          <a:xfrm>
            <a:off x="8343900" y="5495925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CUDA · FP32</a:t>
            </a:r>
          </a:p>
        </p:txBody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9049FF40-FDCD-4C88-8AD8-F9D948701672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D6D7D2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BE3E274-C952-45D2-968A-A2C27BB577F8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来源：configs/train_config.yaml · reports/evaluation_summary.json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FCC6055-94F4-4E3A-B541-A1ACC1E6BC8E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164969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829329E-7430-4E0D-9557-AD5B0FDA7D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D44C9C-1293-4256-92F3-0954A8B41E65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FCEA0C-597B-4B07-AC4A-2154BF96139B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坐标映射是端到端安全的关键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37A3E6-450B-4C8F-8C5D-8168DC2DB7EF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7668F1-B37F-44CF-A993-16F209889353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581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 只返回整行框，实体往往只是其中几个字符。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828C77-5190-4A32-AC53-5D0659E8510C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7810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883C49-C260-4E9F-9B33-C8F696EA9FD9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8D6E76-5464-4486-90CC-6AC45DBBE071}"/>
              </a:ext>
            </a:extLst>
          </p:cNvPr>
          <p:cNvSpPr>
            <a:spLocks noGrp="1"/>
          </p:cNvSpPr>
          <p:nvPr/>
        </p:nvSpPr>
        <p:spPr>
          <a:xfrm>
            <a:off x="1047750" y="1914525"/>
            <a:ext cx="441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方向与图像增强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26F5DB-D8E6-415A-8C9D-826BD0B0FA0A}"/>
              </a:ext>
            </a:extLst>
          </p:cNvPr>
          <p:cNvSpPr>
            <a:spLocks noGrp="1"/>
          </p:cNvSpPr>
          <p:nvPr/>
        </p:nvSpPr>
        <p:spPr>
          <a:xfrm>
            <a:off x="704850" y="2286000"/>
            <a:ext cx="470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EXIF 校正、暗图对比度、等比例缩放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24E236-CC61-4EE4-849C-16A9C99E832B}"/>
              </a:ext>
            </a:extLst>
          </p:cNvPr>
          <p:cNvSpPr>
            <a:spLocks noGrp="1"/>
          </p:cNvSpPr>
          <p:nvPr/>
        </p:nvSpPr>
        <p:spPr>
          <a:xfrm>
            <a:off x="533400" y="2743200"/>
            <a:ext cx="5048250" cy="7810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D6310E-7E0B-40D7-AEF6-1067C7D02536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36ABB-1A2F-458D-897E-8207F879846A}"/>
              </a:ext>
            </a:extLst>
          </p:cNvPr>
          <p:cNvSpPr>
            <a:spLocks noGrp="1"/>
          </p:cNvSpPr>
          <p:nvPr/>
        </p:nvSpPr>
        <p:spPr>
          <a:xfrm>
            <a:off x="1047750" y="2847975"/>
            <a:ext cx="441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字符宽度加权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CF9A25-5266-485C-AA07-A1D593EB2F24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470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中文 1.00；数字/小写 0.58；标点 0.35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5FD212-75C8-412F-8132-8BF4FF9877C7}"/>
              </a:ext>
            </a:extLst>
          </p:cNvPr>
          <p:cNvSpPr>
            <a:spLocks noGrp="1"/>
          </p:cNvSpPr>
          <p:nvPr/>
        </p:nvSpPr>
        <p:spPr>
          <a:xfrm>
            <a:off x="533400" y="3676650"/>
            <a:ext cx="5048250" cy="7810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109A2E-7E0C-45A3-83C4-D561D0F8B33C}"/>
              </a:ext>
            </a:extLst>
          </p:cNvPr>
          <p:cNvSpPr>
            <a:spLocks noGrp="1"/>
          </p:cNvSpPr>
          <p:nvPr/>
        </p:nvSpPr>
        <p:spPr>
          <a:xfrm>
            <a:off x="647700" y="37909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74BFD7-8660-42E3-B098-AF62F703697D}"/>
              </a:ext>
            </a:extLst>
          </p:cNvPr>
          <p:cNvSpPr>
            <a:spLocks noGrp="1"/>
          </p:cNvSpPr>
          <p:nvPr/>
        </p:nvSpPr>
        <p:spPr>
          <a:xfrm>
            <a:off x="1047750" y="3781425"/>
            <a:ext cx="441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墨迹边界修正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39B83C-4373-4A73-BD1E-85C7E3CAF4C8}"/>
              </a:ext>
            </a:extLst>
          </p:cNvPr>
          <p:cNvSpPr>
            <a:spLocks noGrp="1"/>
          </p:cNvSpPr>
          <p:nvPr/>
        </p:nvSpPr>
        <p:spPr>
          <a:xfrm>
            <a:off x="704850" y="4152900"/>
            <a:ext cx="470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透视矫正、垂直投影、连通域扩展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62B070-8356-48F7-B9D6-589424392E9D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5048250" cy="7810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419769-DA2A-45FD-BDE2-05A63869F9AB}"/>
              </a:ext>
            </a:extLst>
          </p:cNvPr>
          <p:cNvSpPr>
            <a:spLocks noGrp="1"/>
          </p:cNvSpPr>
          <p:nvPr/>
        </p:nvSpPr>
        <p:spPr>
          <a:xfrm>
            <a:off x="647700" y="47244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DAEAA2-B880-47A5-9A9B-FAE4A804587F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441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安全降级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8943C7-005B-46C6-8596-A1BEDADBE491}"/>
              </a:ext>
            </a:extLst>
          </p:cNvPr>
          <p:cNvSpPr>
            <a:spLocks noGrp="1"/>
          </p:cNvSpPr>
          <p:nvPr/>
        </p:nvSpPr>
        <p:spPr>
          <a:xfrm>
            <a:off x="704850" y="5086350"/>
            <a:ext cx="470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低置信度时整块 full_block fallback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F1699F-227F-46C4-82C8-E528DBA0EC0B}"/>
              </a:ext>
            </a:extLst>
          </p:cNvPr>
          <p:cNvSpPr>
            <a:spLocks noGrp="1"/>
          </p:cNvSpPr>
          <p:nvPr/>
        </p:nvSpPr>
        <p:spPr>
          <a:xfrm>
            <a:off x="533400" y="5695950"/>
            <a:ext cx="5048250" cy="5143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D981C9-D00C-47CA-8AD5-DE96CC76F291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474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4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严格模式：宁可多遮，不能漏出敏感字形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49735" y="1428750"/>
            <a:ext cx="2778930" cy="1133475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49735" y="3067050"/>
            <a:ext cx="2778930" cy="1133475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49735" y="4705350"/>
            <a:ext cx="2778930" cy="1133475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FB759683-5969-42C3-BD92-F00402C1B72E}"/>
              </a:ext>
            </a:extLst>
          </p:cNvPr>
          <p:cNvSpPr>
            <a:spLocks noGrp="1"/>
          </p:cNvSpPr>
          <p:nvPr/>
        </p:nvSpPr>
        <p:spPr>
          <a:xfrm>
            <a:off x="6096000" y="2600325"/>
            <a:ext cx="548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A  原始合成图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20F2CAF-24BC-4C84-A2A9-DB06C7F69092}"/>
              </a:ext>
            </a:extLst>
          </p:cNvPr>
          <p:cNvSpPr>
            <a:spLocks noGrp="1"/>
          </p:cNvSpPr>
          <p:nvPr/>
        </p:nvSpPr>
        <p:spPr>
          <a:xfrm>
            <a:off x="6096000" y="4238625"/>
            <a:ext cx="548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2B9B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B9B5A"/>
                </a:solidFill>
                <a:latin typeface="Microsoft YaHei"/>
                <a:ea typeface="Microsoft YaHei"/>
                <a:cs typeface="Microsoft YaHei"/>
              </a:rPr>
              <a:t>B  绿色：真值框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9E013A-55C3-4055-A41D-9828054E8E40}"/>
              </a:ext>
            </a:extLst>
          </p:cNvPr>
          <p:cNvSpPr>
            <a:spLocks noGrp="1"/>
          </p:cNvSpPr>
          <p:nvPr/>
        </p:nvSpPr>
        <p:spPr>
          <a:xfrm>
            <a:off x="6096000" y="5876925"/>
            <a:ext cx="548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D948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483B"/>
                </a:solidFill>
                <a:latin typeface="Microsoft YaHei"/>
                <a:ea typeface="Microsoft YaHei"/>
                <a:cs typeface="Microsoft YaHei"/>
              </a:rPr>
              <a:t>C  红色：预测框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224858D1-ABC6-425D-B4CB-A5A7EB93E938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28B161-0C1D-418E-905C-D1CF376BC5E3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当前策略：ink_refined · strict · minimum_mapping_confidence 0.72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D7B4D75-0646-4013-AF49-B5D8B12AD473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842918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83DB96A-0E93-45B1-AB3D-0AA0066226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009042-F30B-4939-958C-EBA58E271335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4F8FDC-858D-48EC-8F12-4D63EDA5E35C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Gradio 将模型能力封装为六页本地产品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3067F2-1EF3-41EE-9219-EB93AC7C023D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rcRect l="51" r="51"/>
          <a:stretch>
            <a:fillRect/>
          </a:stretch>
        </p:blipFill>
        <p:spPr>
          <a:xfrm>
            <a:off x="533400" y="1295400"/>
            <a:ext cx="7429500" cy="46482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407D8E4-9A09-45BA-AAF6-F20F616DD466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7429500" cy="571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4FEFFE-EA6D-4029-B1E8-A083DA3412D9}"/>
              </a:ext>
            </a:extLst>
          </p:cNvPr>
          <p:cNvSpPr>
            <a:spLocks noGrp="1"/>
          </p:cNvSpPr>
          <p:nvPr/>
        </p:nvSpPr>
        <p:spPr>
          <a:xfrm>
            <a:off x="8239125" y="1295400"/>
            <a:ext cx="3419475" cy="464820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2B7767-6723-4F49-B9AF-7A53EA0E8907}"/>
              </a:ext>
            </a:extLst>
          </p:cNvPr>
          <p:cNvSpPr>
            <a:spLocks noGrp="1"/>
          </p:cNvSpPr>
          <p:nvPr/>
        </p:nvSpPr>
        <p:spPr>
          <a:xfrm>
            <a:off x="8477250" y="1524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12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6 TABS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6BDE76-56B5-4B33-A3BB-EB1FB6F7DB73}"/>
              </a:ext>
            </a:extLst>
          </p:cNvPr>
          <p:cNvSpPr>
            <a:spLocks noGrp="1"/>
          </p:cNvSpPr>
          <p:nvPr/>
        </p:nvSpPr>
        <p:spPr>
          <a:xfrm>
            <a:off x="8477250" y="19431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19E926-CEB2-4AD6-82E5-4C6BB20D4C09}"/>
              </a:ext>
            </a:extLst>
          </p:cNvPr>
          <p:cNvSpPr>
            <a:spLocks noGrp="1"/>
          </p:cNvSpPr>
          <p:nvPr/>
        </p:nvSpPr>
        <p:spPr>
          <a:xfrm>
            <a:off x="8877300" y="19335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图片脱敏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9C09F2EA-F286-4881-A3EF-ADAE96DAF5B3}"/>
              </a:ext>
            </a:extLst>
          </p:cNvPr>
          <p:cNvSpPr>
            <a:spLocks noGrp="1"/>
          </p:cNvSpPr>
          <p:nvPr/>
        </p:nvSpPr>
        <p:spPr>
          <a:xfrm>
            <a:off x="8477250" y="2238375"/>
            <a:ext cx="272415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891057-44FA-4869-8F8B-E4DC34BF0ECD}"/>
              </a:ext>
            </a:extLst>
          </p:cNvPr>
          <p:cNvSpPr>
            <a:spLocks noGrp="1"/>
          </p:cNvSpPr>
          <p:nvPr/>
        </p:nvSpPr>
        <p:spPr>
          <a:xfrm>
            <a:off x="8477250" y="23907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7AFB01-53CB-4E28-8E4E-2E7485296C6F}"/>
              </a:ext>
            </a:extLst>
          </p:cNvPr>
          <p:cNvSpPr>
            <a:spLocks noGrp="1"/>
          </p:cNvSpPr>
          <p:nvPr/>
        </p:nvSpPr>
        <p:spPr>
          <a:xfrm>
            <a:off x="8877300" y="238125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文本检测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A0F381B2-4D3A-412F-94B4-C3FC411295AA}"/>
              </a:ext>
            </a:extLst>
          </p:cNvPr>
          <p:cNvSpPr>
            <a:spLocks noGrp="1"/>
          </p:cNvSpPr>
          <p:nvPr/>
        </p:nvSpPr>
        <p:spPr>
          <a:xfrm>
            <a:off x="8477250" y="2686050"/>
            <a:ext cx="272415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E6EC11-BC77-49A1-B2D2-EED916A17914}"/>
              </a:ext>
            </a:extLst>
          </p:cNvPr>
          <p:cNvSpPr>
            <a:spLocks noGrp="1"/>
          </p:cNvSpPr>
          <p:nvPr/>
        </p:nvSpPr>
        <p:spPr>
          <a:xfrm>
            <a:off x="8477250" y="28384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1CA593-7438-4D4E-A95F-6125F8B341B6}"/>
              </a:ext>
            </a:extLst>
          </p:cNvPr>
          <p:cNvSpPr>
            <a:spLocks noGrp="1"/>
          </p:cNvSpPr>
          <p:nvPr/>
        </p:nvSpPr>
        <p:spPr>
          <a:xfrm>
            <a:off x="8877300" y="282892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批量处理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7E848885-2EDF-4189-A2A5-ED77DC510C17}"/>
              </a:ext>
            </a:extLst>
          </p:cNvPr>
          <p:cNvSpPr>
            <a:spLocks noGrp="1"/>
          </p:cNvSpPr>
          <p:nvPr/>
        </p:nvSpPr>
        <p:spPr>
          <a:xfrm>
            <a:off x="8477250" y="3133725"/>
            <a:ext cx="272415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552872-CE09-4FD1-9D7B-E00AD7EA3413}"/>
              </a:ext>
            </a:extLst>
          </p:cNvPr>
          <p:cNvSpPr>
            <a:spLocks noGrp="1"/>
          </p:cNvSpPr>
          <p:nvPr/>
        </p:nvSpPr>
        <p:spPr>
          <a:xfrm>
            <a:off x="8477250" y="32861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8D9C90-08FD-431E-A114-8101A0F833D9}"/>
              </a:ext>
            </a:extLst>
          </p:cNvPr>
          <p:cNvSpPr>
            <a:spLocks noGrp="1"/>
          </p:cNvSpPr>
          <p:nvPr/>
        </p:nvSpPr>
        <p:spPr>
          <a:xfrm>
            <a:off x="8877300" y="327660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历史记录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CB6B6CC-E0F6-486F-BB8E-E45F9FCA0A21}"/>
              </a:ext>
            </a:extLst>
          </p:cNvPr>
          <p:cNvSpPr>
            <a:spLocks noGrp="1"/>
          </p:cNvSpPr>
          <p:nvPr/>
        </p:nvSpPr>
        <p:spPr>
          <a:xfrm>
            <a:off x="8477250" y="3581400"/>
            <a:ext cx="272415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E194B2-9EF3-490E-8D2D-65D3A9289C9E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B3A23E-C08E-43BE-9C1B-36B942F3B042}"/>
              </a:ext>
            </a:extLst>
          </p:cNvPr>
          <p:cNvSpPr>
            <a:spLocks noGrp="1"/>
          </p:cNvSpPr>
          <p:nvPr/>
        </p:nvSpPr>
        <p:spPr>
          <a:xfrm>
            <a:off x="8877300" y="37242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模型配置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A6727206-3183-442E-B339-13973C06D1F4}"/>
              </a:ext>
            </a:extLst>
          </p:cNvPr>
          <p:cNvSpPr>
            <a:spLocks noGrp="1"/>
          </p:cNvSpPr>
          <p:nvPr/>
        </p:nvSpPr>
        <p:spPr>
          <a:xfrm>
            <a:off x="8477250" y="4029075"/>
            <a:ext cx="272415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9D050E-EF72-4F40-99CC-32343A685C2D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73E48A-FB88-4839-B705-9311D16A3EE9}"/>
              </a:ext>
            </a:extLst>
          </p:cNvPr>
          <p:cNvSpPr>
            <a:spLocks noGrp="1"/>
          </p:cNvSpPr>
          <p:nvPr/>
        </p:nvSpPr>
        <p:spPr>
          <a:xfrm>
            <a:off x="8877300" y="417195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系统状态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BC26CA7C-4B5F-4418-BFF2-43A7B9D5D183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72415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0835FB-6FF1-4F02-9A0B-2343E24ADBB6}"/>
              </a:ext>
            </a:extLst>
          </p:cNvPr>
          <p:cNvSpPr>
            <a:spLocks noGrp="1"/>
          </p:cNvSpPr>
          <p:nvPr/>
        </p:nvSpPr>
        <p:spPr>
          <a:xfrm>
            <a:off x="8477250" y="4800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一次推理，多种输出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6942B1-F3B6-4A64-9B67-2908EAEEDCC7}"/>
              </a:ext>
            </a:extLst>
          </p:cNvPr>
          <p:cNvSpPr>
            <a:spLocks noGrp="1"/>
          </p:cNvSpPr>
          <p:nvPr/>
        </p:nvSpPr>
        <p:spPr>
          <a:xfrm>
            <a:off x="8477250" y="51816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预览图 · 脱敏图 · Mask · JSON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7A1973-4D8C-44F1-94FC-DF6EA2608DC9}"/>
              </a:ext>
            </a:extLst>
          </p:cNvPr>
          <p:cNvSpPr>
            <a:spLocks noGrp="1"/>
          </p:cNvSpPr>
          <p:nvPr/>
        </p:nvSpPr>
        <p:spPr>
          <a:xfrm>
            <a:off x="8477250" y="552450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取消实体后重新生成，不重复 OCR / NER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1E1A3282-CA58-48F6-AA90-265E1784994D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D6D7D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A6B476-FD75-488C-B7B2-84037984D0C4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实际界面截图：本地 http://127.0.0.1:7860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EECB73-7EE9-48F8-A2C8-48B03F60BA2E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1241860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928FCA45-CB6F-4DD2-B740-61B88B480D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A03AF3-6E47-4AC2-AE85-B596A08943DB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F0EA3D-90A5-459B-85B8-6C79EBA2F7DF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测试证明链路可运行，固定集暴露真实短板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89BFCA-1C7F-4CFD-A556-50DF37B623E9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82B303-6DD5-43C2-BF59-1C4EC404D7D1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5905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A5D171-7827-43C1-8B1D-6E57E7B62279}"/>
              </a:ext>
            </a:extLst>
          </p:cNvPr>
          <p:cNvSpPr>
            <a:spLocks noGrp="1"/>
          </p:cNvSpPr>
          <p:nvPr/>
        </p:nvSpPr>
        <p:spPr>
          <a:xfrm>
            <a:off x="723900" y="14001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初版验收 90 + 1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3B5255-C1C8-4393-9143-274E216E8C86}"/>
              </a:ext>
            </a:extLst>
          </p:cNvPr>
          <p:cNvSpPr>
            <a:spLocks noGrp="1"/>
          </p:cNvSpPr>
          <p:nvPr/>
        </p:nvSpPr>
        <p:spPr>
          <a:xfrm>
            <a:off x="2886075" y="13811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 fontScale="98409" lnSpcReduction="10000"/>
          </a:bodyPr>
          <a:lstStyle/>
          <a:p>
            <a:pPr algn="ctr">
              <a:defRPr sz="16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82098B-FCE1-447A-8A5C-CC9BEC92F54D}"/>
              </a:ext>
            </a:extLst>
          </p:cNvPr>
          <p:cNvSpPr>
            <a:spLocks noGrp="1"/>
          </p:cNvSpPr>
          <p:nvPr/>
        </p:nvSpPr>
        <p:spPr>
          <a:xfrm>
            <a:off x="3333750" y="140017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当前回归 117 非集成 + 1 集成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531E41-5E61-405B-84BD-7CA933895690}"/>
              </a:ext>
            </a:extLst>
          </p:cNvPr>
          <p:cNvSpPr>
            <a:spLocks noGrp="1"/>
          </p:cNvSpPr>
          <p:nvPr/>
        </p:nvSpPr>
        <p:spPr>
          <a:xfrm>
            <a:off x="7105650" y="140017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125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APP HTTP 200 · 6 Tabs · SQLite · ZIP/CSV/JSON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EA3628-3BD5-4B5F-86F8-AE0C22DCA36C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2000250" cy="11239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981AB6-7C5C-436B-A8A2-5C192A821231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66675" cy="11239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E54178-7B43-4F8A-A1FC-8D695152D695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OCR 相似度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5F779B-82C3-433C-86D8-F6940D46C8E2}"/>
              </a:ext>
            </a:extLst>
          </p:cNvPr>
          <p:cNvSpPr>
            <a:spLocks noGrp="1"/>
          </p:cNvSpPr>
          <p:nvPr/>
        </p:nvSpPr>
        <p:spPr>
          <a:xfrm>
            <a:off x="723900" y="25241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0.9164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393D0B-EAD7-4A55-8E52-43FA57148597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105 张固定图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4BADDD-EC46-43EE-85C7-A7EA82AB779B}"/>
              </a:ext>
            </a:extLst>
          </p:cNvPr>
          <p:cNvSpPr>
            <a:spLocks noGrp="1"/>
          </p:cNvSpPr>
          <p:nvPr/>
        </p:nvSpPr>
        <p:spPr>
          <a:xfrm>
            <a:off x="2762250" y="2152650"/>
            <a:ext cx="2000250" cy="11239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26832-6EF6-458D-A32B-CB28375EF622}"/>
              </a:ext>
            </a:extLst>
          </p:cNvPr>
          <p:cNvSpPr>
            <a:spLocks noGrp="1"/>
          </p:cNvSpPr>
          <p:nvPr/>
        </p:nvSpPr>
        <p:spPr>
          <a:xfrm>
            <a:off x="2762250" y="2152650"/>
            <a:ext cx="66675" cy="11239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8A3271-5F07-4638-B3D9-07451857E4B5}"/>
              </a:ext>
            </a:extLst>
          </p:cNvPr>
          <p:cNvSpPr>
            <a:spLocks noGrp="1"/>
          </p:cNvSpPr>
          <p:nvPr/>
        </p:nvSpPr>
        <p:spPr>
          <a:xfrm>
            <a:off x="2952750" y="2286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CER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5BB753-B384-4C58-B5A3-5A45CF46B64E}"/>
              </a:ext>
            </a:extLst>
          </p:cNvPr>
          <p:cNvSpPr>
            <a:spLocks noGrp="1"/>
          </p:cNvSpPr>
          <p:nvPr/>
        </p:nvSpPr>
        <p:spPr>
          <a:xfrm>
            <a:off x="2952750" y="25241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0.0887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BD1F2C-11BC-41F3-8C2D-B28D2821AA14}"/>
              </a:ext>
            </a:extLst>
          </p:cNvPr>
          <p:cNvSpPr>
            <a:spLocks noGrp="1"/>
          </p:cNvSpPr>
          <p:nvPr/>
        </p:nvSpPr>
        <p:spPr>
          <a:xfrm>
            <a:off x="2952750" y="29908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字符错误率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619C56-0307-440C-8C8F-8EE0E6E85D4C}"/>
              </a:ext>
            </a:extLst>
          </p:cNvPr>
          <p:cNvSpPr>
            <a:spLocks noGrp="1"/>
          </p:cNvSpPr>
          <p:nvPr/>
        </p:nvSpPr>
        <p:spPr>
          <a:xfrm>
            <a:off x="4991100" y="2152650"/>
            <a:ext cx="2000250" cy="11239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6E6AE0-0F06-409C-8E57-DE5A2D7829D6}"/>
              </a:ext>
            </a:extLst>
          </p:cNvPr>
          <p:cNvSpPr>
            <a:spLocks noGrp="1"/>
          </p:cNvSpPr>
          <p:nvPr/>
        </p:nvSpPr>
        <p:spPr>
          <a:xfrm>
            <a:off x="4991100" y="2152650"/>
            <a:ext cx="66675" cy="11239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4FC6BB5-837C-4543-B01E-D9F965046C29}"/>
              </a:ext>
            </a:extLst>
          </p:cNvPr>
          <p:cNvSpPr>
            <a:spLocks noGrp="1"/>
          </p:cNvSpPr>
          <p:nvPr/>
        </p:nvSpPr>
        <p:spPr>
          <a:xfrm>
            <a:off x="5181600" y="2286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DB9EE30-9113-4CD8-A7A4-2B10275A88E5}"/>
              </a:ext>
            </a:extLst>
          </p:cNvPr>
          <p:cNvSpPr>
            <a:spLocks noGrp="1"/>
          </p:cNvSpPr>
          <p:nvPr/>
        </p:nvSpPr>
        <p:spPr>
          <a:xfrm>
            <a:off x="5181600" y="25241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0.9451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6BC655B-7735-48E0-B839-0CFC76F46245}"/>
              </a:ext>
            </a:extLst>
          </p:cNvPr>
          <p:cNvSpPr>
            <a:spLocks noGrp="1"/>
          </p:cNvSpPr>
          <p:nvPr/>
        </p:nvSpPr>
        <p:spPr>
          <a:xfrm>
            <a:off x="5181600" y="29908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误打较少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791F661-89FE-4738-90E4-32E0EAF1FA63}"/>
              </a:ext>
            </a:extLst>
          </p:cNvPr>
          <p:cNvSpPr>
            <a:spLocks noGrp="1"/>
          </p:cNvSpPr>
          <p:nvPr/>
        </p:nvSpPr>
        <p:spPr>
          <a:xfrm>
            <a:off x="7219950" y="2152650"/>
            <a:ext cx="2000250" cy="11239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DF15AB-A153-4B15-8D59-CAFF242AE93B}"/>
              </a:ext>
            </a:extLst>
          </p:cNvPr>
          <p:cNvSpPr>
            <a:spLocks noGrp="1"/>
          </p:cNvSpPr>
          <p:nvPr/>
        </p:nvSpPr>
        <p:spPr>
          <a:xfrm>
            <a:off x="7219950" y="2152650"/>
            <a:ext cx="66675" cy="1123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72DA69-C876-411D-8B9A-68D91CE8F23B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17666A7-B30A-4B48-9097-ADC0AD024D9F}"/>
              </a:ext>
            </a:extLst>
          </p:cNvPr>
          <p:cNvSpPr>
            <a:spLocks noGrp="1"/>
          </p:cNvSpPr>
          <p:nvPr/>
        </p:nvSpPr>
        <p:spPr>
          <a:xfrm>
            <a:off x="7410450" y="25241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0.7876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38A708-07AC-487A-818E-1E34C62BD58D}"/>
              </a:ext>
            </a:extLst>
          </p:cNvPr>
          <p:cNvSpPr>
            <a:spLocks noGrp="1"/>
          </p:cNvSpPr>
          <p:nvPr/>
        </p:nvSpPr>
        <p:spPr>
          <a:xfrm>
            <a:off x="7410450" y="29908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漏检仍明显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4CAAB5-CDAB-43D1-B582-B096EE976D1B}"/>
              </a:ext>
            </a:extLst>
          </p:cNvPr>
          <p:cNvSpPr>
            <a:spLocks noGrp="1"/>
          </p:cNvSpPr>
          <p:nvPr/>
        </p:nvSpPr>
        <p:spPr>
          <a:xfrm>
            <a:off x="9448800" y="2152650"/>
            <a:ext cx="2000250" cy="11239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09FE43-ECCA-4219-B5C4-385E75F72866}"/>
              </a:ext>
            </a:extLst>
          </p:cNvPr>
          <p:cNvSpPr>
            <a:spLocks noGrp="1"/>
          </p:cNvSpPr>
          <p:nvPr/>
        </p:nvSpPr>
        <p:spPr>
          <a:xfrm>
            <a:off x="9448800" y="2152650"/>
            <a:ext cx="66675" cy="11239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BDC5FE-D635-40E3-ACE5-AE8996DCFCA2}"/>
              </a:ext>
            </a:extLst>
          </p:cNvPr>
          <p:cNvSpPr>
            <a:spLocks noGrp="1"/>
          </p:cNvSpPr>
          <p:nvPr/>
        </p:nvSpPr>
        <p:spPr>
          <a:xfrm>
            <a:off x="9639300" y="2286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Entity F1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D260F4-CE4C-4996-848D-4F6D18FDF10C}"/>
              </a:ext>
            </a:extLst>
          </p:cNvPr>
          <p:cNvSpPr>
            <a:spLocks noGrp="1"/>
          </p:cNvSpPr>
          <p:nvPr/>
        </p:nvSpPr>
        <p:spPr>
          <a:xfrm>
            <a:off x="9639300" y="25241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0.8592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598AC47-243A-4259-9FDC-8FC351ED4ED8}"/>
              </a:ext>
            </a:extLst>
          </p:cNvPr>
          <p:cNvSpPr>
            <a:spLocks noGrp="1"/>
          </p:cNvSpPr>
          <p:nvPr/>
        </p:nvSpPr>
        <p:spPr>
          <a:xfrm>
            <a:off x="9639300" y="29908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端到端检测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79F227-210E-403A-918B-BCF84FA4B92A}"/>
              </a:ext>
            </a:extLst>
          </p:cNvPr>
          <p:cNvSpPr>
            <a:spLocks noGrp="1"/>
          </p:cNvSpPr>
          <p:nvPr/>
        </p:nvSpPr>
        <p:spPr>
          <a:xfrm>
            <a:off x="533400" y="3638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风险指标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2DF8930-7784-4D76-B6AE-1CD81B2A517D}"/>
              </a:ext>
            </a:extLst>
          </p:cNvPr>
          <p:cNvSpPr>
            <a:spLocks noGrp="1"/>
          </p:cNvSpPr>
          <p:nvPr/>
        </p:nvSpPr>
        <p:spPr>
          <a:xfrm>
            <a:off x="533400" y="4057650"/>
            <a:ext cx="2514600" cy="1390650"/>
          </a:xfrm>
          <a:prstGeom prst="rect">
            <a:avLst/>
          </a:prstGeom>
          <a:solidFill>
            <a:srgbClr val="F4F4F0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BDCEDD8-9577-479D-ACFA-1D2827FAF161}"/>
              </a:ext>
            </a:extLst>
          </p:cNvPr>
          <p:cNvSpPr>
            <a:spLocks noGrp="1"/>
          </p:cNvSpPr>
          <p:nvPr/>
        </p:nvSpPr>
        <p:spPr>
          <a:xfrm>
            <a:off x="533400" y="4057650"/>
            <a:ext cx="76200" cy="1390650"/>
          </a:xfrm>
          <a:prstGeom prst="rect">
            <a:avLst/>
          </a:prstGeom>
          <a:solidFill>
            <a:srgbClr val="D9483B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B39D360-BEE6-4178-AF3D-36B36774B6F7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5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5A94578-59EB-4162-A8CE-15CAA88BE1F7}"/>
              </a:ext>
            </a:extLst>
          </p:cNvPr>
          <p:cNvSpPr>
            <a:spLocks noGrp="1"/>
          </p:cNvSpPr>
          <p:nvPr/>
        </p:nvSpPr>
        <p:spPr>
          <a:xfrm>
            <a:off x="800100" y="49053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漏检实体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C513DC9-B8E1-454E-A2E3-AFC2FC280BD9}"/>
              </a:ext>
            </a:extLst>
          </p:cNvPr>
          <p:cNvSpPr>
            <a:spLocks noGrp="1"/>
          </p:cNvSpPr>
          <p:nvPr/>
        </p:nvSpPr>
        <p:spPr>
          <a:xfrm>
            <a:off x="3314700" y="4057650"/>
            <a:ext cx="2514600" cy="1390650"/>
          </a:xfrm>
          <a:prstGeom prst="rect">
            <a:avLst/>
          </a:prstGeom>
          <a:solidFill>
            <a:srgbClr val="F4F4F0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68EFDD7-5359-4304-B6CC-61863607AF23}"/>
              </a:ext>
            </a:extLst>
          </p:cNvPr>
          <p:cNvSpPr>
            <a:spLocks noGrp="1"/>
          </p:cNvSpPr>
          <p:nvPr/>
        </p:nvSpPr>
        <p:spPr>
          <a:xfrm>
            <a:off x="3314700" y="4057650"/>
            <a:ext cx="76200" cy="13906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B47ABF5-9039-4E47-8EA0-44F53B26A622}"/>
              </a:ext>
            </a:extLst>
          </p:cNvPr>
          <p:cNvSpPr>
            <a:spLocks noGrp="1"/>
          </p:cNvSpPr>
          <p:nvPr/>
        </p:nvSpPr>
        <p:spPr>
          <a:xfrm>
            <a:off x="3581400" y="42862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5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EAFC4DE-AB0D-4D3B-8A46-65F72CFE090B}"/>
              </a:ext>
            </a:extLst>
          </p:cNvPr>
          <p:cNvSpPr>
            <a:spLocks noGrp="1"/>
          </p:cNvSpPr>
          <p:nvPr/>
        </p:nvSpPr>
        <p:spPr>
          <a:xfrm>
            <a:off x="3581400" y="49053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误打码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335A45E-A5D7-449F-8E34-54CCF8FA6656}"/>
              </a:ext>
            </a:extLst>
          </p:cNvPr>
          <p:cNvSpPr>
            <a:spLocks noGrp="1"/>
          </p:cNvSpPr>
          <p:nvPr/>
        </p:nvSpPr>
        <p:spPr>
          <a:xfrm>
            <a:off x="6096000" y="4057650"/>
            <a:ext cx="2514600" cy="1390650"/>
          </a:xfrm>
          <a:prstGeom prst="rect">
            <a:avLst/>
          </a:prstGeom>
          <a:solidFill>
            <a:srgbClr val="F4F4F0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173517B-BB5C-4AB0-A050-07B0E613CA05}"/>
              </a:ext>
            </a:extLst>
          </p:cNvPr>
          <p:cNvSpPr>
            <a:spLocks noGrp="1"/>
          </p:cNvSpPr>
          <p:nvPr/>
        </p:nvSpPr>
        <p:spPr>
          <a:xfrm>
            <a:off x="6096000" y="4057650"/>
            <a:ext cx="76200" cy="13906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4CC53EA-9939-4863-A9B5-E4AD5A3A013A}"/>
              </a:ext>
            </a:extLst>
          </p:cNvPr>
          <p:cNvSpPr>
            <a:spLocks noGrp="1"/>
          </p:cNvSpPr>
          <p:nvPr/>
        </p:nvSpPr>
        <p:spPr>
          <a:xfrm>
            <a:off x="6362700" y="42862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5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0.4124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160933F-863F-4731-9E0F-F104C7429FDB}"/>
              </a:ext>
            </a:extLst>
          </p:cNvPr>
          <p:cNvSpPr>
            <a:spLocks noGrp="1"/>
          </p:cNvSpPr>
          <p:nvPr/>
        </p:nvSpPr>
        <p:spPr>
          <a:xfrm>
            <a:off x="6362700" y="49053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平均框 IoU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7785578-C945-474D-8D6A-9E4E34F0B8CD}"/>
              </a:ext>
            </a:extLst>
          </p:cNvPr>
          <p:cNvSpPr>
            <a:spLocks noGrp="1"/>
          </p:cNvSpPr>
          <p:nvPr/>
        </p:nvSpPr>
        <p:spPr>
          <a:xfrm>
            <a:off x="8877300" y="4057650"/>
            <a:ext cx="2514600" cy="1390650"/>
          </a:xfrm>
          <a:prstGeom prst="rect">
            <a:avLst/>
          </a:prstGeom>
          <a:solidFill>
            <a:srgbClr val="F4F4F0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9C3E715-2BFE-4056-9326-2260AF0AB1A1}"/>
              </a:ext>
            </a:extLst>
          </p:cNvPr>
          <p:cNvSpPr>
            <a:spLocks noGrp="1"/>
          </p:cNvSpPr>
          <p:nvPr/>
        </p:nvSpPr>
        <p:spPr>
          <a:xfrm>
            <a:off x="8877300" y="4057650"/>
            <a:ext cx="76200" cy="1390650"/>
          </a:xfrm>
          <a:prstGeom prst="rect">
            <a:avLst/>
          </a:prstGeom>
          <a:solidFill>
            <a:srgbClr val="D9483B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CBA47A3-DAF1-4282-813A-2227D103E9F2}"/>
              </a:ext>
            </a:extLst>
          </p:cNvPr>
          <p:cNvSpPr>
            <a:spLocks noGrp="1"/>
          </p:cNvSpPr>
          <p:nvPr/>
        </p:nvSpPr>
        <p:spPr>
          <a:xfrm>
            <a:off x="9144000" y="42862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5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A14BC1B-FADD-423B-A123-67BB54B50474}"/>
              </a:ext>
            </a:extLst>
          </p:cNvPr>
          <p:cNvSpPr>
            <a:spLocks noGrp="1"/>
          </p:cNvSpPr>
          <p:nvPr/>
        </p:nvSpPr>
        <p:spPr>
          <a:xfrm>
            <a:off x="9144000" y="49053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IoU ≥ 0.95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0536A3F-9C69-4E9B-9971-06F7C8BF5279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4572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99C6E84-D130-4E9F-A5D9-DBF7E7970BB5}"/>
              </a:ext>
            </a:extLst>
          </p:cNvPr>
          <p:cNvSpPr>
            <a:spLocks noGrp="1"/>
          </p:cNvSpPr>
          <p:nvPr/>
        </p:nvSpPr>
        <p:spPr>
          <a:xfrm>
            <a:off x="685800" y="5800725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结论：检测能力可演示；高安全场景仍必须人工复核，并优先使用实心黑框。</a:t>
            </a:r>
          </a:p>
        </p:txBody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E8C0BD34-DEEA-4389-A6EC-E410FC84D081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586226D-DE92-4C41-8A4D-0B6E8BCE5371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冻结基线：reports/image_evaluation_summary.json · 本次未重跑 105 张评测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D94E5CF-E9A8-4116-A842-8048AB5E4984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200444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EE5870A1-67DE-4426-A637-FC1C17F9BC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821618-B9F5-4E2E-95D5-E779983730E0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766142-899B-4CE3-9AA2-6359BF24D36D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应用价值集中在文档流转前的隐私预处理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268F8C-97BE-4ED8-8D9E-EAAE862BB6EA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00679E-91CD-4904-8972-138C2C49004B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619250" cy="3857625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9B6E3-1119-4BEB-B152-2181019035F4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61925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163D81-3ECF-4D4A-883A-D1CB7E46DF0B}"/>
              </a:ext>
            </a:extLst>
          </p:cNvPr>
          <p:cNvSpPr>
            <a:spLocks noGrp="1"/>
          </p:cNvSpPr>
          <p:nvPr/>
        </p:nvSpPr>
        <p:spPr>
          <a:xfrm>
            <a:off x="704850" y="17621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853E54-57F0-4EB8-A457-FEE61A54665F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学生作业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1BECEECB-E0D5-4BCD-8548-54E609E83196}"/>
              </a:ext>
            </a:extLst>
          </p:cNvPr>
          <p:cNvSpPr>
            <a:spLocks noGrp="1"/>
          </p:cNvSpPr>
          <p:nvPr/>
        </p:nvSpPr>
        <p:spPr>
          <a:xfrm>
            <a:off x="704850" y="3076575"/>
            <a:ext cx="1123950" cy="0"/>
          </a:xfrm>
          <a:prstGeom prst="line">
            <a:avLst/>
          </a:prstGeom>
          <a:noFill/>
          <a:ln w="19050">
            <a:solidFill>
              <a:srgbClr val="30323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D16BA6-F504-414F-AA79-E651477525E9}"/>
              </a:ext>
            </a:extLst>
          </p:cNvPr>
          <p:cNvSpPr>
            <a:spLocks noGrp="1"/>
          </p:cNvSpPr>
          <p:nvPr/>
        </p:nvSpPr>
        <p:spPr>
          <a:xfrm>
            <a:off x="704850" y="3343275"/>
            <a:ext cx="125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提交与展示前</a:t>
            </a:r>
          </a:p>
          <a:p>
            <a:pPr algn="l">
              <a:def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自动检查姓名学号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AB148D-6EAA-47B0-B29A-AF9E2DFEE134}"/>
              </a:ext>
            </a:extLst>
          </p:cNvPr>
          <p:cNvSpPr>
            <a:spLocks noGrp="1"/>
          </p:cNvSpPr>
          <p:nvPr/>
        </p:nvSpPr>
        <p:spPr>
          <a:xfrm>
            <a:off x="704850" y="47625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A3F945-BA17-419A-A31C-D26589087FE8}"/>
              </a:ext>
            </a:extLst>
          </p:cNvPr>
          <p:cNvSpPr>
            <a:spLocks noGrp="1"/>
          </p:cNvSpPr>
          <p:nvPr/>
        </p:nvSpPr>
        <p:spPr>
          <a:xfrm>
            <a:off x="2381250" y="1438275"/>
            <a:ext cx="1619250" cy="3857625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3AACFF-922C-4026-B1E0-E68871C54B71}"/>
              </a:ext>
            </a:extLst>
          </p:cNvPr>
          <p:cNvSpPr>
            <a:spLocks noGrp="1"/>
          </p:cNvSpPr>
          <p:nvPr/>
        </p:nvSpPr>
        <p:spPr>
          <a:xfrm>
            <a:off x="2381250" y="1438275"/>
            <a:ext cx="161925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C11000-42A9-43B9-A21D-A73BBEC44D34}"/>
              </a:ext>
            </a:extLst>
          </p:cNvPr>
          <p:cNvSpPr>
            <a:spLocks noGrp="1"/>
          </p:cNvSpPr>
          <p:nvPr/>
        </p:nvSpPr>
        <p:spPr>
          <a:xfrm>
            <a:off x="2552700" y="17621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F4A750-C1DE-4224-9680-D28F71827FDF}"/>
              </a:ext>
            </a:extLst>
          </p:cNvPr>
          <p:cNvSpPr>
            <a:spLocks noGrp="1"/>
          </p:cNvSpPr>
          <p:nvPr/>
        </p:nvSpPr>
        <p:spPr>
          <a:xfrm>
            <a:off x="2552700" y="22669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报名 / 登记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1507BAE-DC09-4584-B12E-FB85D315B0BD}"/>
              </a:ext>
            </a:extLst>
          </p:cNvPr>
          <p:cNvSpPr>
            <a:spLocks noGrp="1"/>
          </p:cNvSpPr>
          <p:nvPr/>
        </p:nvSpPr>
        <p:spPr>
          <a:xfrm>
            <a:off x="2552700" y="3076575"/>
            <a:ext cx="1123950" cy="0"/>
          </a:xfrm>
          <a:prstGeom prst="line">
            <a:avLst/>
          </a:prstGeom>
          <a:noFill/>
          <a:ln w="19050">
            <a:solidFill>
              <a:srgbClr val="D6D7D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BB15F6-C1C4-4A8F-A215-6EA880227849}"/>
              </a:ext>
            </a:extLst>
          </p:cNvPr>
          <p:cNvSpPr>
            <a:spLocks noGrp="1"/>
          </p:cNvSpPr>
          <p:nvPr/>
        </p:nvSpPr>
        <p:spPr>
          <a:xfrm>
            <a:off x="2552700" y="3343275"/>
            <a:ext cx="125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表单归档前</a:t>
            </a:r>
          </a:p>
          <a:p>
            <a:pPr algn="l">
              <a:def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遮挡身份字段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7646E3-9CC4-4651-9E35-988D1CE699BC}"/>
              </a:ext>
            </a:extLst>
          </p:cNvPr>
          <p:cNvSpPr>
            <a:spLocks noGrp="1"/>
          </p:cNvSpPr>
          <p:nvPr/>
        </p:nvSpPr>
        <p:spPr>
          <a:xfrm>
            <a:off x="2552700" y="47625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LOCAL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86DF86-F5A1-47EC-96D1-D4F1E88E8AC7}"/>
              </a:ext>
            </a:extLst>
          </p:cNvPr>
          <p:cNvSpPr>
            <a:spLocks noGrp="1"/>
          </p:cNvSpPr>
          <p:nvPr/>
        </p:nvSpPr>
        <p:spPr>
          <a:xfrm>
            <a:off x="4229100" y="1438275"/>
            <a:ext cx="1619250" cy="3857625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9D18E7-02FC-45E5-BD8B-A5BD4C856E93}"/>
              </a:ext>
            </a:extLst>
          </p:cNvPr>
          <p:cNvSpPr>
            <a:spLocks noGrp="1"/>
          </p:cNvSpPr>
          <p:nvPr/>
        </p:nvSpPr>
        <p:spPr>
          <a:xfrm>
            <a:off x="4229100" y="1438275"/>
            <a:ext cx="161925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9481A8-919A-4748-BAA0-E58FA97DB9EE}"/>
              </a:ext>
            </a:extLst>
          </p:cNvPr>
          <p:cNvSpPr>
            <a:spLocks noGrp="1"/>
          </p:cNvSpPr>
          <p:nvPr/>
        </p:nvSpPr>
        <p:spPr>
          <a:xfrm>
            <a:off x="4400550" y="17621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F3E524-CADD-4D2A-86AF-EDA7451C28EB}"/>
              </a:ext>
            </a:extLst>
          </p:cNvPr>
          <p:cNvSpPr>
            <a:spLocks noGrp="1"/>
          </p:cNvSpPr>
          <p:nvPr/>
        </p:nvSpPr>
        <p:spPr>
          <a:xfrm>
            <a:off x="4400550" y="22669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截图分享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5B4FB2F3-D375-4CFA-A38D-FC9CFE835FD3}"/>
              </a:ext>
            </a:extLst>
          </p:cNvPr>
          <p:cNvSpPr>
            <a:spLocks noGrp="1"/>
          </p:cNvSpPr>
          <p:nvPr/>
        </p:nvSpPr>
        <p:spPr>
          <a:xfrm>
            <a:off x="4400550" y="3076575"/>
            <a:ext cx="1123950" cy="0"/>
          </a:xfrm>
          <a:prstGeom prst="line">
            <a:avLst/>
          </a:prstGeom>
          <a:noFill/>
          <a:ln w="19050">
            <a:solidFill>
              <a:srgbClr val="30323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7FEA0D-EE42-4C79-BBD6-9AF835130100}"/>
              </a:ext>
            </a:extLst>
          </p:cNvPr>
          <p:cNvSpPr>
            <a:spLocks noGrp="1"/>
          </p:cNvSpPr>
          <p:nvPr/>
        </p:nvSpPr>
        <p:spPr>
          <a:xfrm>
            <a:off x="4400550" y="3343275"/>
            <a:ext cx="125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聊天和工单</a:t>
            </a:r>
          </a:p>
          <a:p>
            <a:pPr algn="l">
              <a:def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快速打码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844E8A-3956-4502-BC7F-304470AAA7BC}"/>
              </a:ext>
            </a:extLst>
          </p:cNvPr>
          <p:cNvSpPr>
            <a:spLocks noGrp="1"/>
          </p:cNvSpPr>
          <p:nvPr/>
        </p:nvSpPr>
        <p:spPr>
          <a:xfrm>
            <a:off x="4400550" y="47625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63426B-2482-4251-B715-7F66FC4506B2}"/>
              </a:ext>
            </a:extLst>
          </p:cNvPr>
          <p:cNvSpPr>
            <a:spLocks noGrp="1"/>
          </p:cNvSpPr>
          <p:nvPr/>
        </p:nvSpPr>
        <p:spPr>
          <a:xfrm>
            <a:off x="6076950" y="1438275"/>
            <a:ext cx="1619250" cy="3857625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6AEF804-BC95-409E-8A94-5146AD4785C6}"/>
              </a:ext>
            </a:extLst>
          </p:cNvPr>
          <p:cNvSpPr>
            <a:spLocks noGrp="1"/>
          </p:cNvSpPr>
          <p:nvPr/>
        </p:nvSpPr>
        <p:spPr>
          <a:xfrm>
            <a:off x="6076950" y="1438275"/>
            <a:ext cx="161925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F8A0819-D9BC-4AFB-9B35-50E72A52A768}"/>
              </a:ext>
            </a:extLst>
          </p:cNvPr>
          <p:cNvSpPr>
            <a:spLocks noGrp="1"/>
          </p:cNvSpPr>
          <p:nvPr/>
        </p:nvSpPr>
        <p:spPr>
          <a:xfrm>
            <a:off x="6248400" y="17621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251D47-11F2-4E36-AEED-F3D51157E0C6}"/>
              </a:ext>
            </a:extLst>
          </p:cNvPr>
          <p:cNvSpPr>
            <a:spLocks noGrp="1"/>
          </p:cNvSpPr>
          <p:nvPr/>
        </p:nvSpPr>
        <p:spPr>
          <a:xfrm>
            <a:off x="6248400" y="22669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企业流转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6BAD43B2-26E0-4715-82F5-4151C248FF96}"/>
              </a:ext>
            </a:extLst>
          </p:cNvPr>
          <p:cNvSpPr>
            <a:spLocks noGrp="1"/>
          </p:cNvSpPr>
          <p:nvPr/>
        </p:nvSpPr>
        <p:spPr>
          <a:xfrm>
            <a:off x="6248400" y="3076575"/>
            <a:ext cx="1123950" cy="0"/>
          </a:xfrm>
          <a:prstGeom prst="line">
            <a:avLst/>
          </a:prstGeom>
          <a:noFill/>
          <a:ln w="19050">
            <a:solidFill>
              <a:srgbClr val="D6D7D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11DE78-BAD9-4FD9-8A63-10BC0C8A9E2B}"/>
              </a:ext>
            </a:extLst>
          </p:cNvPr>
          <p:cNvSpPr>
            <a:spLocks noGrp="1"/>
          </p:cNvSpPr>
          <p:nvPr/>
        </p:nvSpPr>
        <p:spPr>
          <a:xfrm>
            <a:off x="6248400" y="3343275"/>
            <a:ext cx="125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内部文档外发前</a:t>
            </a:r>
          </a:p>
          <a:p>
            <a:pPr algn="l">
              <a:def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统一预处理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58A252-B58C-41B9-AC18-153CFAACEF71}"/>
              </a:ext>
            </a:extLst>
          </p:cNvPr>
          <p:cNvSpPr>
            <a:spLocks noGrp="1"/>
          </p:cNvSpPr>
          <p:nvPr/>
        </p:nvSpPr>
        <p:spPr>
          <a:xfrm>
            <a:off x="6248400" y="47625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LOCAL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0AFE953-6FDC-42BF-994B-F7FA8DD2445D}"/>
              </a:ext>
            </a:extLst>
          </p:cNvPr>
          <p:cNvSpPr>
            <a:spLocks noGrp="1"/>
          </p:cNvSpPr>
          <p:nvPr/>
        </p:nvSpPr>
        <p:spPr>
          <a:xfrm>
            <a:off x="7924800" y="1438275"/>
            <a:ext cx="1619250" cy="3857625"/>
          </a:xfrm>
          <a:prstGeom prst="rect">
            <a:avLst/>
          </a:prstGeom>
          <a:solidFill>
            <a:srgbClr val="0C0D0E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4893949-68F5-491A-9217-595AD51D5474}"/>
              </a:ext>
            </a:extLst>
          </p:cNvPr>
          <p:cNvSpPr>
            <a:spLocks noGrp="1"/>
          </p:cNvSpPr>
          <p:nvPr/>
        </p:nvSpPr>
        <p:spPr>
          <a:xfrm>
            <a:off x="7924800" y="1438275"/>
            <a:ext cx="161925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6A8A14-2021-481B-A261-CD4A7D13A05A}"/>
              </a:ext>
            </a:extLst>
          </p:cNvPr>
          <p:cNvSpPr>
            <a:spLocks noGrp="1"/>
          </p:cNvSpPr>
          <p:nvPr/>
        </p:nvSpPr>
        <p:spPr>
          <a:xfrm>
            <a:off x="8096250" y="17621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F73D76B-FCB6-4428-9BE5-E3C7C0BD1CC7}"/>
              </a:ext>
            </a:extLst>
          </p:cNvPr>
          <p:cNvSpPr>
            <a:spLocks noGrp="1"/>
          </p:cNvSpPr>
          <p:nvPr/>
        </p:nvSpPr>
        <p:spPr>
          <a:xfrm>
            <a:off x="8096250" y="22669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数据集治理</a:t>
            </a:r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708BF0C8-020C-4197-957D-0FA8DFEFD0B1}"/>
              </a:ext>
            </a:extLst>
          </p:cNvPr>
          <p:cNvSpPr>
            <a:spLocks noGrp="1"/>
          </p:cNvSpPr>
          <p:nvPr/>
        </p:nvSpPr>
        <p:spPr>
          <a:xfrm>
            <a:off x="8096250" y="3076575"/>
            <a:ext cx="1123950" cy="0"/>
          </a:xfrm>
          <a:prstGeom prst="line">
            <a:avLst/>
          </a:prstGeom>
          <a:noFill/>
          <a:ln w="19050">
            <a:solidFill>
              <a:srgbClr val="30323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1450AF3-B6CD-42F1-A7BC-C32BE226AD06}"/>
              </a:ext>
            </a:extLst>
          </p:cNvPr>
          <p:cNvSpPr>
            <a:spLocks noGrp="1"/>
          </p:cNvSpPr>
          <p:nvPr/>
        </p:nvSpPr>
        <p:spPr>
          <a:xfrm>
            <a:off x="8096250" y="3343275"/>
            <a:ext cx="125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训练数据发布前</a:t>
            </a:r>
          </a:p>
          <a:p>
            <a:pPr algn="l">
              <a:def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筛查 PII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72F3ED7-EB7F-4E5D-935A-15E6D7666F33}"/>
              </a:ext>
            </a:extLst>
          </p:cNvPr>
          <p:cNvSpPr>
            <a:spLocks noGrp="1"/>
          </p:cNvSpPr>
          <p:nvPr/>
        </p:nvSpPr>
        <p:spPr>
          <a:xfrm>
            <a:off x="8096250" y="47625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AEAD981-1602-4799-A4C1-7E4956597D91}"/>
              </a:ext>
            </a:extLst>
          </p:cNvPr>
          <p:cNvSpPr>
            <a:spLocks noGrp="1"/>
          </p:cNvSpPr>
          <p:nvPr/>
        </p:nvSpPr>
        <p:spPr>
          <a:xfrm>
            <a:off x="9772650" y="1438275"/>
            <a:ext cx="1619250" cy="3857625"/>
          </a:xfrm>
          <a:prstGeom prst="rect">
            <a:avLst/>
          </a:prstGeom>
          <a:solidFill>
            <a:srgbClr val="FFFFFF"/>
          </a:solidFill>
          <a:ln w="9525">
            <a:solidFill>
              <a:srgbClr val="0C0D0E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70C8796-47CB-4FBF-B18D-60459A5BAA1C}"/>
              </a:ext>
            </a:extLst>
          </p:cNvPr>
          <p:cNvSpPr>
            <a:spLocks noGrp="1"/>
          </p:cNvSpPr>
          <p:nvPr/>
        </p:nvSpPr>
        <p:spPr>
          <a:xfrm>
            <a:off x="9772650" y="1438275"/>
            <a:ext cx="161925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925C546-5374-4F0A-ACD2-BA56083EDE72}"/>
              </a:ext>
            </a:extLst>
          </p:cNvPr>
          <p:cNvSpPr>
            <a:spLocks noGrp="1"/>
          </p:cNvSpPr>
          <p:nvPr/>
        </p:nvSpPr>
        <p:spPr>
          <a:xfrm>
            <a:off x="9944100" y="176212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9C1DFFE-EE0C-40CA-9996-0A71159E7E3E}"/>
              </a:ext>
            </a:extLst>
          </p:cNvPr>
          <p:cNvSpPr>
            <a:spLocks noGrp="1"/>
          </p:cNvSpPr>
          <p:nvPr/>
        </p:nvSpPr>
        <p:spPr>
          <a:xfrm>
            <a:off x="9944100" y="2266950"/>
            <a:ext cx="123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批量图片</a:t>
            </a:r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6D626BE5-0069-4749-B85E-56C51C653716}"/>
              </a:ext>
            </a:extLst>
          </p:cNvPr>
          <p:cNvSpPr>
            <a:spLocks noGrp="1"/>
          </p:cNvSpPr>
          <p:nvPr/>
        </p:nvSpPr>
        <p:spPr>
          <a:xfrm>
            <a:off x="9944100" y="3076575"/>
            <a:ext cx="1123950" cy="0"/>
          </a:xfrm>
          <a:prstGeom prst="line">
            <a:avLst/>
          </a:prstGeom>
          <a:noFill/>
          <a:ln w="19050">
            <a:solidFill>
              <a:srgbClr val="D6D7D2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505DE34-A525-412B-BF80-9AC2B3843C2E}"/>
              </a:ext>
            </a:extLst>
          </p:cNvPr>
          <p:cNvSpPr>
            <a:spLocks noGrp="1"/>
          </p:cNvSpPr>
          <p:nvPr/>
        </p:nvSpPr>
        <p:spPr>
          <a:xfrm>
            <a:off x="9944100" y="3343275"/>
            <a:ext cx="125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ZIP/CSV/JSON</a:t>
            </a:r>
          </a:p>
          <a:p>
            <a:pPr algn="l">
              <a:def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统一导出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EC92A03-7671-466D-92A7-9BB2811DCA3D}"/>
              </a:ext>
            </a:extLst>
          </p:cNvPr>
          <p:cNvSpPr>
            <a:spLocks noGrp="1"/>
          </p:cNvSpPr>
          <p:nvPr/>
        </p:nvSpPr>
        <p:spPr>
          <a:xfrm>
            <a:off x="9944100" y="47625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LOCAL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C6028BA-ADD2-4B1F-9CB4-3FFFE8C791B6}"/>
              </a:ext>
            </a:extLst>
          </p:cNvPr>
          <p:cNvSpPr>
            <a:spLocks noGrp="1"/>
          </p:cNvSpPr>
          <p:nvPr/>
        </p:nvSpPr>
        <p:spPr>
          <a:xfrm>
            <a:off x="533400" y="5600700"/>
            <a:ext cx="11125200" cy="5524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B10D275-B6F2-48E8-871E-F383F0E5C5F1}"/>
              </a:ext>
            </a:extLst>
          </p:cNvPr>
          <p:cNvSpPr>
            <a:spLocks noGrp="1"/>
          </p:cNvSpPr>
          <p:nvPr/>
        </p:nvSpPr>
        <p:spPr>
          <a:xfrm>
            <a:off x="762000" y="572452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定位：高风险审核的辅助工具，而不是自动合规结论生成器。</a:t>
            </a:r>
          </a:p>
        </p:txBody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63DB32A8-DC5A-4A1B-B93E-A3C76351CBDA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D6D7D2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823E413-2A17-4171-A515-8D844244784E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适用于本地单机预处理与教学/工程验证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BC73112-B857-4B08-9CB3-80A6F616A39A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12983646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06C8F3CA-B9CE-4223-9F64-A75123529E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5ECA2C-2BD1-4383-9ED8-2D9B3B9A18AE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CB725C-EC0D-4732-8D8F-3CAE0FE651AE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当前边界必须明确：可演示，不等于无人值守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060F62-30CC-4435-B9FA-6A6E44693C82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514AD8-60F0-4525-B311-2B4BC9042B41}"/>
              </a:ext>
            </a:extLst>
          </p:cNvPr>
          <p:cNvSpPr>
            <a:spLocks noGrp="1"/>
          </p:cNvSpPr>
          <p:nvPr/>
        </p:nvSpPr>
        <p:spPr>
          <a:xfrm>
            <a:off x="533400" y="1419225"/>
            <a:ext cx="3238500" cy="3914775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2E77C7-FBFA-4234-A068-3B51695801C6}"/>
              </a:ext>
            </a:extLst>
          </p:cNvPr>
          <p:cNvSpPr>
            <a:spLocks noGrp="1"/>
          </p:cNvSpPr>
          <p:nvPr/>
        </p:nvSpPr>
        <p:spPr>
          <a:xfrm>
            <a:off x="790575" y="1828800"/>
            <a:ext cx="27241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57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5DF98B-3E9A-4FF9-B1F1-776AE73AE841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2590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旧冻结基线</a:t>
            </a:r>
          </a:p>
          <a:p>
            <a:pPr algn="ctr">
              <a:def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IoU ≥ 0.95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4520C783-D645-4D6B-AA0E-0C4D30DCDFFC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2476500" cy="0"/>
          </a:xfrm>
          <a:prstGeom prst="line">
            <a:avLst/>
          </a:prstGeom>
          <a:noFill/>
          <a:ln w="28575">
            <a:solidFill>
              <a:srgbClr val="0C0D0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2B2F3A-3D4E-4F45-A07F-268B69F9C5F8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2705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75" b="0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它不是“功能失效”，</a:t>
            </a:r>
          </a:p>
          <a:p>
            <a:pPr algn="ctr">
              <a:defRPr sz="1275" b="0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而是说明局部框不能替代人工复核。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A75CE4-DD27-43AA-A761-5511F3E5A288}"/>
              </a:ext>
            </a:extLst>
          </p:cNvPr>
          <p:cNvSpPr>
            <a:spLocks noGrp="1"/>
          </p:cNvSpPr>
          <p:nvPr/>
        </p:nvSpPr>
        <p:spPr>
          <a:xfrm>
            <a:off x="4171950" y="1419225"/>
            <a:ext cx="3390900" cy="16573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155353-9E85-475E-B967-ADB7C69B7923}"/>
              </a:ext>
            </a:extLst>
          </p:cNvPr>
          <p:cNvSpPr>
            <a:spLocks noGrp="1"/>
          </p:cNvSpPr>
          <p:nvPr/>
        </p:nvSpPr>
        <p:spPr>
          <a:xfrm>
            <a:off x="4343400" y="15906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7E273F-C267-4D85-94B1-71D9B1AFF8BD}"/>
              </a:ext>
            </a:extLst>
          </p:cNvPr>
          <p:cNvSpPr>
            <a:spLocks noGrp="1"/>
          </p:cNvSpPr>
          <p:nvPr/>
        </p:nvSpPr>
        <p:spPr>
          <a:xfrm>
            <a:off x="4800600" y="15621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2BC6C8-74CC-46F2-80C9-9A2AD94F762C}"/>
              </a:ext>
            </a:extLst>
          </p:cNvPr>
          <p:cNvSpPr>
            <a:spLocks noGrp="1"/>
          </p:cNvSpPr>
          <p:nvPr/>
        </p:nvSpPr>
        <p:spPr>
          <a:xfrm>
            <a:off x="4381500" y="2066925"/>
            <a:ext cx="2952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手写、阴影、旋转和低清图仍不稳定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DE705C-80D2-44E9-B57C-1825D6AB2E80}"/>
              </a:ext>
            </a:extLst>
          </p:cNvPr>
          <p:cNvSpPr>
            <a:spLocks noGrp="1"/>
          </p:cNvSpPr>
          <p:nvPr/>
        </p:nvSpPr>
        <p:spPr>
          <a:xfrm>
            <a:off x="7924800" y="1419225"/>
            <a:ext cx="3390900" cy="16573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D6B0D9-5468-4B90-A14D-52D740673B02}"/>
              </a:ext>
            </a:extLst>
          </p:cNvPr>
          <p:cNvSpPr>
            <a:spLocks noGrp="1"/>
          </p:cNvSpPr>
          <p:nvPr/>
        </p:nvSpPr>
        <p:spPr>
          <a:xfrm>
            <a:off x="8096250" y="15906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B8B73C-AD6D-45FA-9BD4-FD0ABDCB78C7}"/>
              </a:ext>
            </a:extLst>
          </p:cNvPr>
          <p:cNvSpPr>
            <a:spLocks noGrp="1"/>
          </p:cNvSpPr>
          <p:nvPr/>
        </p:nvSpPr>
        <p:spPr>
          <a:xfrm>
            <a:off x="8553450" y="156210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坐标映射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7E867F-26DA-4765-951F-7C79928E61B7}"/>
              </a:ext>
            </a:extLst>
          </p:cNvPr>
          <p:cNvSpPr>
            <a:spLocks noGrp="1"/>
          </p:cNvSpPr>
          <p:nvPr/>
        </p:nvSpPr>
        <p:spPr>
          <a:xfrm>
            <a:off x="8134350" y="2066925"/>
            <a:ext cx="2952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复杂版式下局部实体框可能不完整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237341-3D48-4429-AC37-A4ABB60737CB}"/>
              </a:ext>
            </a:extLst>
          </p:cNvPr>
          <p:cNvSpPr>
            <a:spLocks noGrp="1"/>
          </p:cNvSpPr>
          <p:nvPr/>
        </p:nvSpPr>
        <p:spPr>
          <a:xfrm>
            <a:off x="4171950" y="3371850"/>
            <a:ext cx="3390900" cy="16573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90C6AF-7EF1-40D7-8215-318346E7606D}"/>
              </a:ext>
            </a:extLst>
          </p:cNvPr>
          <p:cNvSpPr>
            <a:spLocks noGrp="1"/>
          </p:cNvSpPr>
          <p:nvPr/>
        </p:nvSpPr>
        <p:spPr>
          <a:xfrm>
            <a:off x="4343400" y="35433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72BB4E-0A29-4257-8B1F-EF5270D6A4E5}"/>
              </a:ext>
            </a:extLst>
          </p:cNvPr>
          <p:cNvSpPr>
            <a:spLocks noGrp="1"/>
          </p:cNvSpPr>
          <p:nvPr/>
        </p:nvSpPr>
        <p:spPr>
          <a:xfrm>
            <a:off x="4800600" y="351472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脱敏方式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F96072-3A94-464C-82D3-7A6C858D3B76}"/>
              </a:ext>
            </a:extLst>
          </p:cNvPr>
          <p:cNvSpPr>
            <a:spLocks noGrp="1"/>
          </p:cNvSpPr>
          <p:nvPr/>
        </p:nvSpPr>
        <p:spPr>
          <a:xfrm>
            <a:off x="4381500" y="4019550"/>
            <a:ext cx="2952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马赛克与模糊安全性低于黑框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F51757-6A04-44E5-92D1-744FCC8942AB}"/>
              </a:ext>
            </a:extLst>
          </p:cNvPr>
          <p:cNvSpPr>
            <a:spLocks noGrp="1"/>
          </p:cNvSpPr>
          <p:nvPr/>
        </p:nvSpPr>
        <p:spPr>
          <a:xfrm>
            <a:off x="7924800" y="3371850"/>
            <a:ext cx="3390900" cy="16573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366AAA3-514E-4AFF-A67E-3DB421A3FDDA}"/>
              </a:ext>
            </a:extLst>
          </p:cNvPr>
          <p:cNvSpPr>
            <a:spLocks noGrp="1"/>
          </p:cNvSpPr>
          <p:nvPr/>
        </p:nvSpPr>
        <p:spPr>
          <a:xfrm>
            <a:off x="8096250" y="35433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4557388-AFFF-489D-86FC-0985AD1F1618}"/>
              </a:ext>
            </a:extLst>
          </p:cNvPr>
          <p:cNvSpPr>
            <a:spLocks noGrp="1"/>
          </p:cNvSpPr>
          <p:nvPr/>
        </p:nvSpPr>
        <p:spPr>
          <a:xfrm>
            <a:off x="8553450" y="3514725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外部数据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4B4338-56B2-4FE8-A80C-461FF1307FCD}"/>
              </a:ext>
            </a:extLst>
          </p:cNvPr>
          <p:cNvSpPr>
            <a:spLocks noGrp="1"/>
          </p:cNvSpPr>
          <p:nvPr/>
        </p:nvSpPr>
        <p:spPr>
          <a:xfrm>
            <a:off x="8134350" y="4019550"/>
            <a:ext cx="2952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MultiPriv 仅 metadata_only，且非商业许可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F4DF7A-9D4E-4C10-AA00-5F8F39075280}"/>
              </a:ext>
            </a:extLst>
          </p:cNvPr>
          <p:cNvSpPr>
            <a:spLocks noGrp="1"/>
          </p:cNvSpPr>
          <p:nvPr/>
        </p:nvSpPr>
        <p:spPr>
          <a:xfrm>
            <a:off x="4171950" y="5572125"/>
            <a:ext cx="7143750" cy="552450"/>
          </a:xfrm>
          <a:prstGeom prst="rect">
            <a:avLst/>
          </a:prstGeom>
          <a:solidFill>
            <a:srgbClr val="F4F4F0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25D4100-4F15-4A5D-AD83-E6FC3A9B7EFA}"/>
              </a:ext>
            </a:extLst>
          </p:cNvPr>
          <p:cNvSpPr>
            <a:spLocks noGrp="1"/>
          </p:cNvSpPr>
          <p:nvPr/>
        </p:nvSpPr>
        <p:spPr>
          <a:xfrm>
            <a:off x="4362450" y="5686425"/>
            <a:ext cx="676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5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生产建议：strict + black + 更大边距 + 人工确认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A6C8F0B6-8E5F-42AF-B1CD-B277809CFC56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1005E1-AE7D-4D00-96B8-259B802ADF31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诚实披露限制，是隐私系统可信度的一部分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9CAB2C-56DB-4A70-AF48-58C55AE9F226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1519499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9DB87B8-C694-4B81-8E5B-6BA232514C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78382D-D15A-47D2-BD45-A48CC69C9D9E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PII-REDACTOR / PROJECT DEFENSE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3CADEE-0270-4268-8204-43B546DA99EA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后续路线优先补真实数据与字形级定位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60692A-7231-4906-ACD2-3F653B3F318B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23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8637BA1C-F9AD-4556-B3B8-1D79CFC07172}"/>
              </a:ext>
            </a:extLst>
          </p:cNvPr>
          <p:cNvSpPr>
            <a:spLocks noGrp="1"/>
          </p:cNvSpPr>
          <p:nvPr/>
        </p:nvSpPr>
        <p:spPr>
          <a:xfrm>
            <a:off x="952500" y="3248025"/>
            <a:ext cx="9906000" cy="0"/>
          </a:xfrm>
          <a:prstGeom prst="line">
            <a:avLst/>
          </a:prstGeom>
          <a:noFill/>
          <a:ln w="38100">
            <a:solidFill>
              <a:srgbClr val="0C0D0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211F97-1477-4AFE-B61C-AD1B2F5DCAEA}"/>
              </a:ext>
            </a:extLst>
          </p:cNvPr>
          <p:cNvSpPr>
            <a:spLocks noGrp="1"/>
          </p:cNvSpPr>
          <p:nvPr/>
        </p:nvSpPr>
        <p:spPr>
          <a:xfrm>
            <a:off x="1104900" y="3067050"/>
            <a:ext cx="361950" cy="361950"/>
          </a:xfrm>
          <a:prstGeom prst="rect">
            <a:avLst/>
          </a:prstGeom>
          <a:solidFill>
            <a:srgbClr val="F5C400"/>
          </a:solidFill>
          <a:ln w="19050">
            <a:solidFill>
              <a:srgbClr val="0C0D0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FF5CE4-54F7-4AC1-835D-A0E1C096496C}"/>
              </a:ext>
            </a:extLst>
          </p:cNvPr>
          <p:cNvSpPr>
            <a:spLocks noGrp="1"/>
          </p:cNvSpPr>
          <p:nvPr/>
        </p:nvSpPr>
        <p:spPr>
          <a:xfrm>
            <a:off x="1133475" y="3114675"/>
            <a:ext cx="304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6F6AF9-9CEC-4CBD-AB06-5112449C4CAD}"/>
              </a:ext>
            </a:extLst>
          </p:cNvPr>
          <p:cNvSpPr>
            <a:spLocks noGrp="1"/>
          </p:cNvSpPr>
          <p:nvPr/>
        </p:nvSpPr>
        <p:spPr>
          <a:xfrm>
            <a:off x="914400" y="14573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PHASE 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79FB4C-B2E6-4E7C-9F82-5AFDA215FC9F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1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真实数据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8BC3F30F-A7ED-44BC-9529-5D5FFCA22AF7}"/>
              </a:ext>
            </a:extLst>
          </p:cNvPr>
          <p:cNvSpPr>
            <a:spLocks noGrp="1"/>
          </p:cNvSpPr>
          <p:nvPr/>
        </p:nvSpPr>
        <p:spPr>
          <a:xfrm>
            <a:off x="914400" y="2333625"/>
            <a:ext cx="2628900" cy="0"/>
          </a:xfrm>
          <a:prstGeom prst="line">
            <a:avLst/>
          </a:prstGeom>
          <a:noFill/>
          <a:ln w="19050">
            <a:solidFill>
              <a:srgbClr val="D6D7D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E0AEBF-65F2-414A-8161-5E9B41581EC8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扩充人工标注图片集</a:t>
            </a:r>
          </a:p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手写 / 阴影 / 低清分层</a:t>
            </a:r>
          </a:p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建立独立开发与测试集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2D8F8E-7850-4468-AABB-9FA7363C7759}"/>
              </a:ext>
            </a:extLst>
          </p:cNvPr>
          <p:cNvSpPr>
            <a:spLocks noGrp="1"/>
          </p:cNvSpPr>
          <p:nvPr/>
        </p:nvSpPr>
        <p:spPr>
          <a:xfrm>
            <a:off x="4343400" y="3067050"/>
            <a:ext cx="361950" cy="361950"/>
          </a:xfrm>
          <a:prstGeom prst="rect">
            <a:avLst/>
          </a:prstGeom>
          <a:solidFill>
            <a:srgbClr val="F5C400"/>
          </a:solidFill>
          <a:ln w="19050">
            <a:solidFill>
              <a:srgbClr val="0C0D0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73323D-B87B-4407-879A-E52E7E813D06}"/>
              </a:ext>
            </a:extLst>
          </p:cNvPr>
          <p:cNvSpPr>
            <a:spLocks noGrp="1"/>
          </p:cNvSpPr>
          <p:nvPr/>
        </p:nvSpPr>
        <p:spPr>
          <a:xfrm>
            <a:off x="4371975" y="3114675"/>
            <a:ext cx="304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6DB33F-4E34-4E86-8967-B788CAE38243}"/>
              </a:ext>
            </a:extLst>
          </p:cNvPr>
          <p:cNvSpPr>
            <a:spLocks noGrp="1"/>
          </p:cNvSpPr>
          <p:nvPr/>
        </p:nvSpPr>
        <p:spPr>
          <a:xfrm>
            <a:off x="4152900" y="14573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PHASE 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F40B82-4553-4BD6-9343-410DC4C3537C}"/>
              </a:ext>
            </a:extLst>
          </p:cNvPr>
          <p:cNvSpPr>
            <a:spLocks noGrp="1"/>
          </p:cNvSpPr>
          <p:nvPr/>
        </p:nvSpPr>
        <p:spPr>
          <a:xfrm>
            <a:off x="4152900" y="18097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1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定位能力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10F902C4-93DD-45A4-AF09-1B2FE6AA37F6}"/>
              </a:ext>
            </a:extLst>
          </p:cNvPr>
          <p:cNvSpPr>
            <a:spLocks noGrp="1"/>
          </p:cNvSpPr>
          <p:nvPr/>
        </p:nvSpPr>
        <p:spPr>
          <a:xfrm>
            <a:off x="4152900" y="2333625"/>
            <a:ext cx="2628900" cy="0"/>
          </a:xfrm>
          <a:prstGeom prst="line">
            <a:avLst/>
          </a:prstGeom>
          <a:noFill/>
          <a:ln w="19050">
            <a:solidFill>
              <a:srgbClr val="D6D7D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BD03F5-A911-401A-B1BB-E060C8E0DEA8}"/>
              </a:ext>
            </a:extLst>
          </p:cNvPr>
          <p:cNvSpPr>
            <a:spLocks noGrp="1"/>
          </p:cNvSpPr>
          <p:nvPr/>
        </p:nvSpPr>
        <p:spPr>
          <a:xfrm>
            <a:off x="4152900" y="247650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字符级 / 字形级坐标</a:t>
            </a:r>
          </a:p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目标检测模型</a:t>
            </a:r>
          </a:p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专用手写数字识别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2F5F62-B679-4C9B-8C7E-B3A37F457706}"/>
              </a:ext>
            </a:extLst>
          </p:cNvPr>
          <p:cNvSpPr>
            <a:spLocks noGrp="1"/>
          </p:cNvSpPr>
          <p:nvPr/>
        </p:nvSpPr>
        <p:spPr>
          <a:xfrm>
            <a:off x="7581900" y="3067050"/>
            <a:ext cx="361950" cy="361950"/>
          </a:xfrm>
          <a:prstGeom prst="rect">
            <a:avLst/>
          </a:prstGeom>
          <a:solidFill>
            <a:srgbClr val="F5C400"/>
          </a:solidFill>
          <a:ln w="19050">
            <a:solidFill>
              <a:srgbClr val="0C0D0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4D7E2C-B9C1-4BE0-9800-1D4EF40A4D58}"/>
              </a:ext>
            </a:extLst>
          </p:cNvPr>
          <p:cNvSpPr>
            <a:spLocks noGrp="1"/>
          </p:cNvSpPr>
          <p:nvPr/>
        </p:nvSpPr>
        <p:spPr>
          <a:xfrm>
            <a:off x="7610475" y="3114675"/>
            <a:ext cx="304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8B00F8-72A1-4C60-8D4B-C0BF031EC333}"/>
              </a:ext>
            </a:extLst>
          </p:cNvPr>
          <p:cNvSpPr>
            <a:spLocks noGrp="1"/>
          </p:cNvSpPr>
          <p:nvPr/>
        </p:nvSpPr>
        <p:spPr>
          <a:xfrm>
            <a:off x="7391400" y="14573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75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PHASE 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2B6F2C-3D43-4F4D-8226-A3ED367838F0}"/>
              </a:ext>
            </a:extLst>
          </p:cNvPr>
          <p:cNvSpPr>
            <a:spLocks noGrp="1"/>
          </p:cNvSpPr>
          <p:nvPr/>
        </p:nvSpPr>
        <p:spPr>
          <a:xfrm>
            <a:off x="7391400" y="18097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1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产品治理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D5DFDF47-44AB-409A-B089-9601D301FCCD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2628900" cy="0"/>
          </a:xfrm>
          <a:prstGeom prst="line">
            <a:avLst/>
          </a:prstGeom>
          <a:noFill/>
          <a:ln w="19050">
            <a:solidFill>
              <a:srgbClr val="D6D7D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62A40C-1A0B-453A-913A-2D4823393461}"/>
              </a:ext>
            </a:extLst>
          </p:cNvPr>
          <p:cNvSpPr>
            <a:spLocks noGrp="1"/>
          </p:cNvSpPr>
          <p:nvPr/>
        </p:nvSpPr>
        <p:spPr>
          <a:xfrm>
            <a:off x="7391400" y="247650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PDF / 多页文档</a:t>
            </a:r>
          </a:p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细粒度权限与审计</a:t>
            </a:r>
          </a:p>
          <a:p>
            <a:pPr algn="l">
              <a:def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• 前端与 OCR 响应优化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C85B22-424F-4418-B620-1F67FA769533}"/>
              </a:ext>
            </a:extLst>
          </p:cNvPr>
          <p:cNvSpPr>
            <a:spLocks noGrp="1"/>
          </p:cNvSpPr>
          <p:nvPr/>
        </p:nvSpPr>
        <p:spPr>
          <a:xfrm>
            <a:off x="533400" y="42005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NEXT VALIDATION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EBC3E52-6E86-42B1-8C07-9EDB10010456}"/>
              </a:ext>
            </a:extLst>
          </p:cNvPr>
          <p:cNvSpPr>
            <a:spLocks noGrp="1"/>
          </p:cNvSpPr>
          <p:nvPr/>
        </p:nvSpPr>
        <p:spPr>
          <a:xfrm>
            <a:off x="533400" y="4562475"/>
            <a:ext cx="11125200" cy="1123950"/>
          </a:xfrm>
          <a:prstGeom prst="rect">
            <a:avLst/>
          </a:prstGeom>
          <a:solidFill>
            <a:srgbClr val="0C0D0E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811D831-3BC0-451C-B2D8-E121DA0187F9}"/>
              </a:ext>
            </a:extLst>
          </p:cNvPr>
          <p:cNvSpPr>
            <a:spLocks noGrp="1"/>
          </p:cNvSpPr>
          <p:nvPr/>
        </p:nvSpPr>
        <p:spPr>
          <a:xfrm>
            <a:off x="781050" y="47910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真实人工标注图片开发集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3F8EF5-BEA3-494A-BC27-85C898A13949}"/>
              </a:ext>
            </a:extLst>
          </p:cNvPr>
          <p:cNvSpPr>
            <a:spLocks noGrp="1"/>
          </p:cNvSpPr>
          <p:nvPr/>
        </p:nvSpPr>
        <p:spPr>
          <a:xfrm>
            <a:off x="4533900" y="480060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6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先验证 OCR 召回与像素覆盖，再谈端到端自动化。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5F1F094-3AD1-43A5-B95C-B38F84D99B78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固定测试集不能用于调参；新算法应使用新版本冻结评测。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41D25198-A3D1-471C-9372-25B703DC0E05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D6D7D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6631189-47EB-4402-A36B-40CAEFEB70EB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路线优先级：证据质量 &gt; 类型数量 &gt; 视觉效果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C817AE7-13ED-4720-95B6-B17D5F554AC1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9AE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8477817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0F3B3FA-8086-4802-A512-889522F57D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C40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540A51-255A-4CD2-A449-1237B2631764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PII-REDACTOR / FINAL SYNTHESIS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86B68B-1974-4ED9-8586-D705BE5658DD}"/>
              </a:ext>
            </a:extLst>
          </p:cNvPr>
          <p:cNvSpPr>
            <a:spLocks noGrp="1"/>
          </p:cNvSpPr>
          <p:nvPr/>
        </p:nvSpPr>
        <p:spPr>
          <a:xfrm>
            <a:off x="533400" y="52387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完整工程链路是项目的核心成果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335574-6608-443A-9B50-72071F511377}"/>
              </a:ext>
            </a:extLst>
          </p:cNvPr>
          <p:cNvSpPr>
            <a:spLocks noGrp="1"/>
          </p:cNvSpPr>
          <p:nvPr/>
        </p:nvSpPr>
        <p:spPr>
          <a:xfrm>
            <a:off x="11239500" y="295275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6AC1FD-FC5D-48A5-976C-A3134611D2CC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1257300" cy="7239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E96B14-F773-46A5-A98A-B7C1714EAA21}"/>
              </a:ext>
            </a:extLst>
          </p:cNvPr>
          <p:cNvSpPr>
            <a:spLocks noGrp="1"/>
          </p:cNvSpPr>
          <p:nvPr/>
        </p:nvSpPr>
        <p:spPr>
          <a:xfrm>
            <a:off x="628650" y="18669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3E176E-7B5B-47C5-A587-6F32204E9721}"/>
              </a:ext>
            </a:extLst>
          </p:cNvPr>
          <p:cNvSpPr>
            <a:spLocks noGrp="1"/>
          </p:cNvSpPr>
          <p:nvPr/>
        </p:nvSpPr>
        <p:spPr>
          <a:xfrm>
            <a:off x="2152650" y="1676400"/>
            <a:ext cx="1257300" cy="7239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B4D774-AE9C-4E9F-98F6-891C25A570BD}"/>
              </a:ext>
            </a:extLst>
          </p:cNvPr>
          <p:cNvSpPr>
            <a:spLocks noGrp="1"/>
          </p:cNvSpPr>
          <p:nvPr/>
        </p:nvSpPr>
        <p:spPr>
          <a:xfrm>
            <a:off x="2228850" y="18669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D5536F-CD76-4983-BAF2-430862A144E6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1257300" cy="7239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4825A4-1080-4DC2-8C29-B9176CCC0F33}"/>
              </a:ext>
            </a:extLst>
          </p:cNvPr>
          <p:cNvSpPr>
            <a:spLocks noGrp="1"/>
          </p:cNvSpPr>
          <p:nvPr/>
        </p:nvSpPr>
        <p:spPr>
          <a:xfrm>
            <a:off x="3829050" y="18669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0497CE-DE2F-4D10-B2FA-F4C48023F258}"/>
              </a:ext>
            </a:extLst>
          </p:cNvPr>
          <p:cNvSpPr>
            <a:spLocks noGrp="1"/>
          </p:cNvSpPr>
          <p:nvPr/>
        </p:nvSpPr>
        <p:spPr>
          <a:xfrm>
            <a:off x="5353050" y="1676400"/>
            <a:ext cx="1257300" cy="723900"/>
          </a:xfrm>
          <a:prstGeom prst="rect">
            <a:avLst/>
          </a:prstGeom>
          <a:solidFill>
            <a:srgbClr val="F5C400"/>
          </a:solidFill>
          <a:ln w="9525">
            <a:solidFill>
              <a:srgbClr val="F5C40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4A2D48-B0B0-4722-A0BC-B8C989769C5D}"/>
              </a:ext>
            </a:extLst>
          </p:cNvPr>
          <p:cNvSpPr>
            <a:spLocks noGrp="1"/>
          </p:cNvSpPr>
          <p:nvPr/>
        </p:nvSpPr>
        <p:spPr>
          <a:xfrm>
            <a:off x="5429250" y="18669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7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23C75C-238F-4D79-8D17-04A409A83B9A}"/>
              </a:ext>
            </a:extLst>
          </p:cNvPr>
          <p:cNvSpPr>
            <a:spLocks noGrp="1"/>
          </p:cNvSpPr>
          <p:nvPr/>
        </p:nvSpPr>
        <p:spPr>
          <a:xfrm>
            <a:off x="6953250" y="1676400"/>
            <a:ext cx="1257300" cy="7239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9019CF-F7BF-4237-A03E-55DABEA33A27}"/>
              </a:ext>
            </a:extLst>
          </p:cNvPr>
          <p:cNvSpPr>
            <a:spLocks noGrp="1"/>
          </p:cNvSpPr>
          <p:nvPr/>
        </p:nvSpPr>
        <p:spPr>
          <a:xfrm>
            <a:off x="7029450" y="18669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AC6141-4F4B-4B28-9ACD-47F3A744C2ED}"/>
              </a:ext>
            </a:extLst>
          </p:cNvPr>
          <p:cNvSpPr>
            <a:spLocks noGrp="1"/>
          </p:cNvSpPr>
          <p:nvPr/>
        </p:nvSpPr>
        <p:spPr>
          <a:xfrm>
            <a:off x="8553450" y="1676400"/>
            <a:ext cx="1257300" cy="7239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3A4330-1FDA-4FE7-9349-6A8DA7035EC3}"/>
              </a:ext>
            </a:extLst>
          </p:cNvPr>
          <p:cNvSpPr>
            <a:spLocks noGrp="1"/>
          </p:cNvSpPr>
          <p:nvPr/>
        </p:nvSpPr>
        <p:spPr>
          <a:xfrm>
            <a:off x="8629650" y="18669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UI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04E2C6-5F43-48DA-8102-13764B9725EE}"/>
              </a:ext>
            </a:extLst>
          </p:cNvPr>
          <p:cNvSpPr>
            <a:spLocks noGrp="1"/>
          </p:cNvSpPr>
          <p:nvPr/>
        </p:nvSpPr>
        <p:spPr>
          <a:xfrm>
            <a:off x="10153650" y="1676400"/>
            <a:ext cx="1257300" cy="72390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777365-5016-4137-9DD6-786EA97D94B1}"/>
              </a:ext>
            </a:extLst>
          </p:cNvPr>
          <p:cNvSpPr>
            <a:spLocks noGrp="1"/>
          </p:cNvSpPr>
          <p:nvPr/>
        </p:nvSpPr>
        <p:spPr>
          <a:xfrm>
            <a:off x="10229850" y="18669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cxnSp>
        <p:nvCxnSpPr>
          <p:cNvPr id="61" name="直接箭头连接符 60"/>
          <p:cNvCxnSpPr>
            <a:stCxn id="5" idx="3"/>
            <a:endCxn id="7" idx="1"/>
          </p:cNvCxnSpPr>
          <p:nvPr/>
        </p:nvCxnSpPr>
        <p:spPr>
          <a:xfrm>
            <a:off x="1809750" y="2038350"/>
            <a:ext cx="342900" cy="0"/>
          </a:xfrm>
          <a:prstGeom prst="straightConnector1">
            <a:avLst/>
          </a:prstGeom>
          <a:ln w="28575">
            <a:solidFill>
              <a:srgbClr val="F5C400"/>
            </a:solidFill>
            <a:prstDash val="solid"/>
            <a:tailEnd type="triangle" w="sm" len="sm"/>
          </a:ln>
        </p:spPr>
      </p:cxnSp>
      <p:cxnSp>
        <p:nvCxnSpPr>
          <p:cNvPr id="62" name="直接箭头连接符 61"/>
          <p:cNvCxnSpPr>
            <a:stCxn id="7" idx="3"/>
            <a:endCxn id="9" idx="1"/>
          </p:cNvCxnSpPr>
          <p:nvPr/>
        </p:nvCxnSpPr>
        <p:spPr>
          <a:xfrm>
            <a:off x="3409950" y="2038350"/>
            <a:ext cx="342900" cy="0"/>
          </a:xfrm>
          <a:prstGeom prst="straightConnector1">
            <a:avLst/>
          </a:prstGeom>
          <a:ln w="28575">
            <a:solidFill>
              <a:srgbClr val="F5C400"/>
            </a:solidFill>
            <a:prstDash val="solid"/>
            <a:tailEnd type="triangle" w="sm" len="sm"/>
          </a:ln>
        </p:spPr>
      </p:cxnSp>
      <p:cxnSp>
        <p:nvCxnSpPr>
          <p:cNvPr id="63" name="直接箭头连接符 62"/>
          <p:cNvCxnSpPr>
            <a:stCxn id="9" idx="3"/>
            <a:endCxn id="11" idx="1"/>
          </p:cNvCxnSpPr>
          <p:nvPr/>
        </p:nvCxnSpPr>
        <p:spPr>
          <a:xfrm>
            <a:off x="5010150" y="2038350"/>
            <a:ext cx="342900" cy="0"/>
          </a:xfrm>
          <a:prstGeom prst="straightConnector1">
            <a:avLst/>
          </a:prstGeom>
          <a:ln w="28575">
            <a:solidFill>
              <a:srgbClr val="F5C400"/>
            </a:solidFill>
            <a:prstDash val="solid"/>
            <a:tailEnd type="triangle" w="sm" len="sm"/>
          </a:ln>
        </p:spPr>
      </p:cxnSp>
      <p:cxnSp>
        <p:nvCxnSpPr>
          <p:cNvPr id="64" name="直接箭头连接符 63"/>
          <p:cNvCxnSpPr>
            <a:stCxn id="11" idx="3"/>
            <a:endCxn id="13" idx="1"/>
          </p:cNvCxnSpPr>
          <p:nvPr/>
        </p:nvCxnSpPr>
        <p:spPr>
          <a:xfrm>
            <a:off x="6610350" y="2038350"/>
            <a:ext cx="342900" cy="0"/>
          </a:xfrm>
          <a:prstGeom prst="straightConnector1">
            <a:avLst/>
          </a:prstGeom>
          <a:ln w="28575">
            <a:solidFill>
              <a:srgbClr val="F5C400"/>
            </a:solidFill>
            <a:prstDash val="solid"/>
            <a:tailEnd type="triangle" w="sm" len="sm"/>
          </a:ln>
        </p:spPr>
      </p:cxnSp>
      <p:cxnSp>
        <p:nvCxnSpPr>
          <p:cNvPr id="65" name="直接箭头连接符 64"/>
          <p:cNvCxnSpPr>
            <a:stCxn id="13" idx="3"/>
            <a:endCxn id="15" idx="1"/>
          </p:cNvCxnSpPr>
          <p:nvPr/>
        </p:nvCxnSpPr>
        <p:spPr>
          <a:xfrm>
            <a:off x="8210550" y="2038350"/>
            <a:ext cx="342900" cy="0"/>
          </a:xfrm>
          <a:prstGeom prst="straightConnector1">
            <a:avLst/>
          </a:prstGeom>
          <a:ln w="28575">
            <a:solidFill>
              <a:srgbClr val="F5C400"/>
            </a:solidFill>
            <a:prstDash val="solid"/>
            <a:tailEnd type="triangle" w="sm" len="sm"/>
          </a:ln>
        </p:spPr>
      </p:cxnSp>
      <p:cxnSp>
        <p:nvCxnSpPr>
          <p:cNvPr id="66" name="直接箭头连接符 65"/>
          <p:cNvCxnSpPr>
            <a:stCxn id="15" idx="3"/>
            <a:endCxn id="17" idx="1"/>
          </p:cNvCxnSpPr>
          <p:nvPr/>
        </p:nvCxnSpPr>
        <p:spPr>
          <a:xfrm>
            <a:off x="9810750" y="2038350"/>
            <a:ext cx="342900" cy="0"/>
          </a:xfrm>
          <a:prstGeom prst="straightConnector1">
            <a:avLst/>
          </a:prstGeom>
          <a:ln w="28575">
            <a:solidFill>
              <a:srgbClr val="F5C400"/>
            </a:solidFill>
            <a:prstDash val="solid"/>
            <a:tailEnd type="triangle" w="sm" len="sm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0331E88-7484-4853-A789-23F44FD4C60B}"/>
              </a:ext>
            </a:extLst>
          </p:cNvPr>
          <p:cNvSpPr>
            <a:spLocks noGrp="1"/>
          </p:cNvSpPr>
          <p:nvPr/>
        </p:nvSpPr>
        <p:spPr>
          <a:xfrm>
            <a:off x="533400" y="3105150"/>
            <a:ext cx="3371850" cy="14287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192FE1-C21D-4F80-B460-A07BC189D126}"/>
              </a:ext>
            </a:extLst>
          </p:cNvPr>
          <p:cNvSpPr>
            <a:spLocks noGrp="1"/>
          </p:cNvSpPr>
          <p:nvPr/>
        </p:nvSpPr>
        <p:spPr>
          <a:xfrm>
            <a:off x="647700" y="32194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33AF6FF-42D4-43C5-BD9F-B56F28669B5A}"/>
              </a:ext>
            </a:extLst>
          </p:cNvPr>
          <p:cNvSpPr>
            <a:spLocks noGrp="1"/>
          </p:cNvSpPr>
          <p:nvPr/>
        </p:nvSpPr>
        <p:spPr>
          <a:xfrm>
            <a:off x="1047750" y="320992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不是单一模型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C874EB6-F49E-41EF-A2EA-11FA650902E0}"/>
              </a:ext>
            </a:extLst>
          </p:cNvPr>
          <p:cNvSpPr>
            <a:spLocks noGrp="1"/>
          </p:cNvSpPr>
          <p:nvPr/>
        </p:nvSpPr>
        <p:spPr>
          <a:xfrm>
            <a:off x="704850" y="358140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规则、MacBERT、OCR 与 CV 各自解决最适合的问题。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8676C2-E394-49D8-9B8A-006D864A4450}"/>
              </a:ext>
            </a:extLst>
          </p:cNvPr>
          <p:cNvSpPr>
            <a:spLocks noGrp="1"/>
          </p:cNvSpPr>
          <p:nvPr/>
        </p:nvSpPr>
        <p:spPr>
          <a:xfrm>
            <a:off x="4267200" y="3105150"/>
            <a:ext cx="3371850" cy="14287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741783-2677-4FCA-9E76-4D0870DA0456}"/>
              </a:ext>
            </a:extLst>
          </p:cNvPr>
          <p:cNvSpPr>
            <a:spLocks noGrp="1"/>
          </p:cNvSpPr>
          <p:nvPr/>
        </p:nvSpPr>
        <p:spPr>
          <a:xfrm>
            <a:off x="4381500" y="32194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121BD57-ABDE-4A57-B1EC-322039C33C50}"/>
              </a:ext>
            </a:extLst>
          </p:cNvPr>
          <p:cNvSpPr>
            <a:spLocks noGrp="1"/>
          </p:cNvSpPr>
          <p:nvPr/>
        </p:nvSpPr>
        <p:spPr>
          <a:xfrm>
            <a:off x="4781550" y="320992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工程闭环完整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F85A573-63CA-4A15-B4C3-DCF36109B75F}"/>
              </a:ext>
            </a:extLst>
          </p:cNvPr>
          <p:cNvSpPr>
            <a:spLocks noGrp="1"/>
          </p:cNvSpPr>
          <p:nvPr/>
        </p:nvSpPr>
        <p:spPr>
          <a:xfrm>
            <a:off x="4438650" y="358140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数据、模型、界面、批量、历史、测试与报告可本地运行。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0FAEA10-9468-4561-AE2D-6DEC62BCC014}"/>
              </a:ext>
            </a:extLst>
          </p:cNvPr>
          <p:cNvSpPr>
            <a:spLocks noGrp="1"/>
          </p:cNvSpPr>
          <p:nvPr/>
        </p:nvSpPr>
        <p:spPr>
          <a:xfrm>
            <a:off x="8001000" y="3105150"/>
            <a:ext cx="3371850" cy="1428750"/>
          </a:xfrm>
          <a:prstGeom prst="rect">
            <a:avLst/>
          </a:prstGeom>
          <a:solidFill>
            <a:srgbClr val="1B1D1F"/>
          </a:solidFill>
          <a:ln w="9525">
            <a:solidFill>
              <a:srgbClr val="30323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2E951F-F72A-48A8-82A3-A6B69BAA48D6}"/>
              </a:ext>
            </a:extLst>
          </p:cNvPr>
          <p:cNvSpPr>
            <a:spLocks noGrp="1"/>
          </p:cNvSpPr>
          <p:nvPr/>
        </p:nvSpPr>
        <p:spPr>
          <a:xfrm>
            <a:off x="8115300" y="32194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34B732E-46BA-4CCC-A7E3-4283DADC5B1A}"/>
              </a:ext>
            </a:extLst>
          </p:cNvPr>
          <p:cNvSpPr>
            <a:spLocks noGrp="1"/>
          </p:cNvSpPr>
          <p:nvPr/>
        </p:nvSpPr>
        <p:spPr>
          <a:xfrm>
            <a:off x="8515350" y="3209925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风险边界清晰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0BD54B4-7912-41B3-AAE5-D423D677F1CC}"/>
              </a:ext>
            </a:extLst>
          </p:cNvPr>
          <p:cNvSpPr>
            <a:spLocks noGrp="1"/>
          </p:cNvSpPr>
          <p:nvPr/>
        </p:nvSpPr>
        <p:spPr>
          <a:xfrm>
            <a:off x="8172450" y="358140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D7D2"/>
                </a:solidFill>
                <a:latin typeface="Microsoft YaHei"/>
                <a:ea typeface="Microsoft YaHei"/>
                <a:cs typeface="Microsoft YaHei"/>
              </a:rPr>
              <a:t>公开低覆盖与漏检结果，把人工复核纳入产品设计。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A5453D8-4D93-4973-8BC4-CC38BFCE18CA}"/>
              </a:ext>
            </a:extLst>
          </p:cNvPr>
          <p:cNvSpPr>
            <a:spLocks noGrp="1"/>
          </p:cNvSpPr>
          <p:nvPr/>
        </p:nvSpPr>
        <p:spPr>
          <a:xfrm>
            <a:off x="533400" y="4972050"/>
            <a:ext cx="11125200" cy="838200"/>
          </a:xfrm>
          <a:prstGeom prst="rect">
            <a:avLst/>
          </a:prstGeom>
          <a:solidFill>
            <a:srgbClr val="F4F4F0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2177FB-9899-4CE9-8177-F9AD013D1514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21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C0D0E"/>
                </a:solidFill>
                <a:latin typeface="Microsoft YaHei"/>
                <a:ea typeface="Microsoft YaHei"/>
                <a:cs typeface="Microsoft YaHei"/>
              </a:rPr>
              <a:t>可运行 · 可训练 · 可评测 · 可解释 · 可扩展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6E8A94D-CB4B-40EA-BA96-7908EB13AC53}"/>
              </a:ext>
            </a:extLst>
          </p:cNvPr>
          <p:cNvSpPr>
            <a:spLocks noGrp="1"/>
          </p:cNvSpPr>
          <p:nvPr/>
        </p:nvSpPr>
        <p:spPr>
          <a:xfrm>
            <a:off x="533400" y="6048375"/>
            <a:ext cx="11125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ctr">
              <a:defRPr sz="142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下一步：用真实标注数据证明安全覆盖，而不是继续放大模板化指标。</a:t>
            </a:r>
          </a:p>
        </p:txBody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9583AC3C-F981-4ED0-A527-9B84257EA688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11125200" cy="0"/>
          </a:xfrm>
          <a:prstGeom prst="line">
            <a:avLst/>
          </a:prstGeom>
          <a:noFill/>
          <a:ln w="9525">
            <a:solidFill>
              <a:srgbClr val="30323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6ACECE-A05C-4B7E-A414-A246D17642BC}"/>
              </a:ext>
            </a:extLst>
          </p:cNvPr>
          <p:cNvSpPr>
            <a:spLocks noGrp="1"/>
          </p:cNvSpPr>
          <p:nvPr/>
        </p:nvSpPr>
        <p:spPr>
          <a:xfrm>
            <a:off x="533400" y="6619875"/>
            <a:ext cx="1009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l">
              <a:def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D91"/>
                </a:solidFill>
                <a:latin typeface="Microsoft YaHei"/>
                <a:ea typeface="Microsoft YaHei"/>
                <a:cs typeface="Microsoft YaHei"/>
              </a:rPr>
              <a:t>文档敏感信息智能检测与脱敏系统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5D1D5DF-CE54-475D-90C1-D1262D423E0A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2133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>
            <a:normAutofit/>
          </a:bodyPr>
          <a:lstStyle/>
          <a:p>
            <a:pPr algn="r">
              <a:def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5C400"/>
                </a:solidFill>
                <a:latin typeface="Microsoft YaHei"/>
                <a:ea typeface="Microsoft YaHei"/>
                <a:cs typeface="Microsoft YaHei"/>
              </a:rPr>
              <a:t>LOCAL · PRIVATE · AUDITABLE</a:t>
            </a:r>
          </a:p>
        </p:txBody>
      </p:sp>
    </p:spTree>
    <p:extLst>
      <p:ext uri="{BB962C8B-B14F-4D97-AF65-F5344CB8AC3E}">
        <p14:creationId xmlns:p14="http://schemas.microsoft.com/office/powerpoint/2010/main" val="2055811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1177</Words>
  <Application>Microsoft Office PowerPoint</Application>
  <DocSecurity>0</DocSecurity>
  <PresentationFormat>宽屏</PresentationFormat>
  <Paragraphs>418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帝皇 东海</cp:lastModifiedBy>
  <cp:revision>4</cp:revision>
  <dcterms:created xsi:type="dcterms:W3CDTF">2026-07-15T06:57:48Z</dcterms:created>
  <dcterms:modified xsi:type="dcterms:W3CDTF">2026-07-15T08:03:59Z</dcterms:modified>
</cp:coreProperties>
</file>